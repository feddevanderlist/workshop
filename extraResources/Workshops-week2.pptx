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</p:sldMasterIdLst>
  <p:notesMasterIdLst>
    <p:notesMasterId r:id="rId16"/>
  </p:notesMasterIdLst>
  <p:sldIdLst>
    <p:sldId id="257" r:id="rId3"/>
    <p:sldId id="268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9" r:id="rId12"/>
    <p:sldId id="265" r:id="rId13"/>
    <p:sldId id="267" r:id="rId14"/>
    <p:sldId id="266" r:id="rId15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kopteks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3" name="Tijdelijke aanduiding voor datum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B426AF-B890-47BD-84F8-665771245A5C}" type="datetimeFigureOut">
              <a:rPr lang="nl-NL" smtClean="0"/>
              <a:t>2-1-2023</a:t>
            </a:fld>
            <a:endParaRPr lang="nl-NL"/>
          </a:p>
        </p:txBody>
      </p:sp>
      <p:sp>
        <p:nvSpPr>
          <p:cNvPr id="4" name="Tijdelijke aanduiding voor dia-afbeelding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Tijdelijke aanduiding voor notiti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6" name="Tijdelijke aanduiding voor voettekst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nl-NL"/>
          </a:p>
        </p:txBody>
      </p:sp>
      <p:sp>
        <p:nvSpPr>
          <p:cNvPr id="7" name="Tijdelijke aanduiding voor dianumm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E0569B-9FCF-431E-AE3D-659F82FE3855}" type="slidenum">
              <a:rPr lang="nl-NL" smtClean="0"/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9279660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pPr eaLnBrk="1" hangingPunct="1"/>
            <a:endParaRPr lang="nl-NL" altLang="nl-NL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jdelijke aanduiding voor dia-afbeelding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Tijdelijke aanduiding voor notiti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Tijdelijke aanduiding voor dianumm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EA224A06-FA55-4012-B5C0-6C70D8251C00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49504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nl-NL"/>
              <a:t>Klik om de ondertitelstijl van het model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1837828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47472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eko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40695787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nhoud van twe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sz="half" idx="1"/>
          </p:nvPr>
        </p:nvSpPr>
        <p:spPr>
          <a:xfrm>
            <a:off x="6591301" y="3155951"/>
            <a:ext cx="2222500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9017001" y="3155951"/>
            <a:ext cx="2224617" cy="30591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60959694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elijk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tekst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4" name="Tijdelijke aanduiding voor inhoud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5" name="Tijdelijke aanduiding voor tekst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6" name="Tijdelijke aanduiding voor inhoud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6713993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60515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987513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oud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40139847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Afbeelding met bij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afbeelding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nl-NL" noProof="0"/>
          </a:p>
        </p:txBody>
      </p:sp>
      <p:sp>
        <p:nvSpPr>
          <p:cNvPr id="4" name="Tijdelijke aanduiding voor tekst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5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3747521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en verticale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0272583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e titel en tek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e titel 1"/>
          <p:cNvSpPr>
            <a:spLocks noGrp="1"/>
          </p:cNvSpPr>
          <p:nvPr>
            <p:ph type="title" orient="vert"/>
          </p:nvPr>
        </p:nvSpPr>
        <p:spPr>
          <a:xfrm>
            <a:off x="10075334" y="2500313"/>
            <a:ext cx="1166284" cy="3714750"/>
          </a:xfrm>
        </p:spPr>
        <p:txBody>
          <a:bodyPr vert="eaVert"/>
          <a:lstStyle/>
          <a:p>
            <a:r>
              <a:rPr lang="nl-NL"/>
              <a:t>Klik om de stijl te bewerken</a:t>
            </a:r>
          </a:p>
        </p:txBody>
      </p:sp>
      <p:sp>
        <p:nvSpPr>
          <p:cNvPr id="3" name="Tijdelijke aanduiding voor verticale tekst 2"/>
          <p:cNvSpPr>
            <a:spLocks noGrp="1"/>
          </p:cNvSpPr>
          <p:nvPr>
            <p:ph type="body" orient="vert" idx="1"/>
          </p:nvPr>
        </p:nvSpPr>
        <p:spPr>
          <a:xfrm>
            <a:off x="6572251" y="2500313"/>
            <a:ext cx="3299883" cy="3714750"/>
          </a:xfrm>
        </p:spPr>
        <p:txBody>
          <a:bodyPr vert="eaVert"/>
          <a:lstStyle/>
          <a:p>
            <a:pPr lvl="0"/>
            <a:r>
              <a:rPr lang="nl-NL"/>
              <a:t>Klik om de modelstijlen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</a:p>
        </p:txBody>
      </p:sp>
      <p:sp>
        <p:nvSpPr>
          <p:cNvPr id="4" name="shpDatum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80203920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oorblad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6" descr="Foto_1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shpKleurvlak"/>
          <p:cNvSpPr>
            <a:spLocks noChangeArrowheads="1"/>
          </p:cNvSpPr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pic>
        <p:nvPicPr>
          <p:cNvPr id="4" name="Picture 14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71961540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el met afbeel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3" descr="JongenLaptop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61087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pKleurvlak"/>
          <p:cNvSpPr>
            <a:spLocks noChangeArrowheads="1"/>
          </p:cNvSpPr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/>
          </a:p>
        </p:txBody>
      </p:sp>
      <p:pic>
        <p:nvPicPr>
          <p:cNvPr id="6" name="Picture 12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6565904" y="2474908"/>
            <a:ext cx="4800635" cy="941393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tabLst/>
              <a:defRPr sz="26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6544736" y="3513150"/>
            <a:ext cx="4857784" cy="17526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tabLst/>
              <a:defRPr sz="1800">
                <a:solidFill>
                  <a:schemeClr val="bg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nl-NL"/>
              <a:t>Klik om het opmaakprofiel van de modelondertitel te bewerken</a:t>
            </a:r>
            <a:endParaRPr lang="nl-NL" dirty="0"/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0"/>
          </p:nvPr>
        </p:nvSpPr>
        <p:spPr>
          <a:xfrm>
            <a:off x="6572251" y="6380164"/>
            <a:ext cx="4953000" cy="3635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27518545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nhoudsopgave lett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12" descr="perron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1"/>
            <a:ext cx="6108700" cy="686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shpKleurvlak"/>
          <p:cNvSpPr>
            <a:spLocks noChangeArrowheads="1"/>
          </p:cNvSpPr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/>
          </a:p>
        </p:txBody>
      </p:sp>
      <p:pic>
        <p:nvPicPr>
          <p:cNvPr id="6" name="Picture 11" descr="Logo_Powerpoint_diap_nl"/>
          <p:cNvPicPr>
            <a:picLocks noChangeAspect="1" noChangeArrowheads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Tijdelijke aanduiding voor tekst 8"/>
          <p:cNvSpPr>
            <a:spLocks noGrp="1"/>
          </p:cNvSpPr>
          <p:nvPr>
            <p:ph type="body" sz="quarter" idx="12"/>
          </p:nvPr>
        </p:nvSpPr>
        <p:spPr>
          <a:xfrm>
            <a:off x="6572282" y="2500307"/>
            <a:ext cx="4667255" cy="571504"/>
          </a:xfrm>
          <a:prstGeom prst="rect">
            <a:avLst/>
          </a:prstGeom>
        </p:spPr>
        <p:txBody>
          <a:bodyPr/>
          <a:lstStyle>
            <a:lvl1pPr>
              <a:buFontTx/>
              <a:buNone/>
              <a:defRPr sz="2600">
                <a:solidFill>
                  <a:schemeClr val="bg1"/>
                </a:solidFill>
              </a:defRPr>
            </a:lvl1pPr>
            <a:lvl2pPr>
              <a:buFontTx/>
              <a:buNone/>
              <a:defRPr/>
            </a:lvl2pPr>
            <a:lvl3pPr>
              <a:buFontTx/>
              <a:buNone/>
              <a:defRPr/>
            </a:lvl3pPr>
            <a:lvl4pPr>
              <a:buFontTx/>
              <a:buNone/>
              <a:defRPr/>
            </a:lvl4pPr>
            <a:lvl5pPr>
              <a:buFontTx/>
              <a:buNone/>
              <a:defRPr/>
            </a:lvl5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14" name="Tijdelijke aanduiding voor tekst 13"/>
          <p:cNvSpPr>
            <a:spLocks noGrp="1"/>
          </p:cNvSpPr>
          <p:nvPr>
            <p:ph type="body" sz="quarter" idx="13"/>
          </p:nvPr>
        </p:nvSpPr>
        <p:spPr>
          <a:xfrm>
            <a:off x="6590728" y="3157104"/>
            <a:ext cx="4648809" cy="3057979"/>
          </a:xfrm>
          <a:prstGeom prst="rect">
            <a:avLst/>
          </a:prstGeom>
        </p:spPr>
        <p:txBody>
          <a:bodyPr/>
          <a:lstStyle>
            <a:lvl1pPr marL="234950" indent="-234950">
              <a:buFont typeface="+mj-lt"/>
              <a:buAutoNum type="alphaLcPeriod"/>
              <a:defRPr sz="1800" baseline="0">
                <a:solidFill>
                  <a:schemeClr val="bg1"/>
                </a:solidFill>
              </a:defRPr>
            </a:lvl1pPr>
          </a:lstStyle>
          <a:p>
            <a:pPr lvl="0"/>
            <a:r>
              <a:rPr lang="nl-NL"/>
              <a:t>Klik om de modelstijlen te bewerken</a:t>
            </a:r>
          </a:p>
        </p:txBody>
      </p:sp>
      <p:sp>
        <p:nvSpPr>
          <p:cNvPr id="7" name="shpDatum"/>
          <p:cNvSpPr>
            <a:spLocks noGrp="1" noChangeArrowheads="1"/>
          </p:cNvSpPr>
          <p:nvPr>
            <p:ph type="dt" sz="half" idx="14"/>
          </p:nvPr>
        </p:nvSpPr>
        <p:spPr>
          <a:xfrm>
            <a:off x="6572251" y="6380164"/>
            <a:ext cx="4953000" cy="363537"/>
          </a:xfr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32274421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1 tekstblo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hpKleurvlakOnder"/>
          <p:cNvSpPr>
            <a:spLocks noChangeArrowheads="1"/>
          </p:cNvSpPr>
          <p:nvPr userDrawn="1"/>
        </p:nvSpPr>
        <p:spPr bwMode="auto">
          <a:xfrm>
            <a:off x="0" y="6318250"/>
            <a:ext cx="12192000" cy="53975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5" name="shpTekst"/>
          <p:cNvSpPr>
            <a:spLocks noChangeArrowheads="1"/>
          </p:cNvSpPr>
          <p:nvPr userDrawn="1"/>
        </p:nvSpPr>
        <p:spPr bwMode="auto">
          <a:xfrm>
            <a:off x="0" y="1"/>
            <a:ext cx="12192000" cy="1071563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pic>
        <p:nvPicPr>
          <p:cNvPr id="6" name="shpDatum" descr="RO__vervolgpagina~LPPT.pn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491067" y="1233039"/>
            <a:ext cx="10462717" cy="571504"/>
          </a:xfrm>
          <a:prstGeom prst="rect">
            <a:avLst/>
          </a:prstGeom>
        </p:spPr>
        <p:txBody>
          <a:bodyPr>
            <a:normAutofit/>
          </a:bodyPr>
          <a:lstStyle>
            <a:lvl1pPr algn="l">
              <a:defRPr sz="2600" spc="-60" baseline="0">
                <a:solidFill>
                  <a:srgbClr val="2494C5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r>
              <a:rPr lang="nl-NL"/>
              <a:t>Klik om de stijl te bewerken</a:t>
            </a:r>
            <a:endParaRPr lang="nl-NL" dirty="0"/>
          </a:p>
        </p:txBody>
      </p:sp>
      <p:sp>
        <p:nvSpPr>
          <p:cNvPr id="13" name="Tijdelijke aanduiding voor inhoud 2"/>
          <p:cNvSpPr>
            <a:spLocks noGrp="1"/>
          </p:cNvSpPr>
          <p:nvPr>
            <p:ph idx="1"/>
          </p:nvPr>
        </p:nvSpPr>
        <p:spPr>
          <a:xfrm>
            <a:off x="493144" y="1798626"/>
            <a:ext cx="10477573" cy="427358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  <a:lvl2pPr marL="179388" indent="-179388">
              <a:buFont typeface="Arial" pitchFamily="34" charset="0"/>
              <a:buChar char="•"/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2pPr>
            <a:lvl3pPr marL="396000" indent="-252000">
              <a:buFontTx/>
              <a:buBlip>
                <a:blip r:embed="rId3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3pPr>
            <a:lvl4pPr marL="539750" indent="-144000">
              <a:buSzPct val="100000"/>
              <a:buFontTx/>
              <a:buBlip>
                <a:blip r:embed="rId4"/>
              </a:buBlip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4pPr>
            <a:lvl5pPr>
              <a:defRPr sz="1800">
                <a:latin typeface="Verdana" pitchFamily="34" charset="0"/>
                <a:ea typeface="Verdana" pitchFamily="34" charset="0"/>
                <a:cs typeface="Verdana" pitchFamily="34" charset="0"/>
              </a:defRPr>
            </a:lvl5pPr>
          </a:lstStyle>
          <a:p>
            <a:pPr lvl="0"/>
            <a:r>
              <a:rPr lang="nl-NL" dirty="0"/>
              <a:t>Klik om de modelstijlen te bewerken</a:t>
            </a:r>
          </a:p>
          <a:p>
            <a:pPr lvl="1"/>
            <a:r>
              <a:rPr lang="nl-NL" dirty="0"/>
              <a:t>Tweede niveau</a:t>
            </a:r>
          </a:p>
          <a:p>
            <a:pPr lvl="2"/>
            <a:r>
              <a:rPr lang="nl-NL" dirty="0"/>
              <a:t>Derde niveau</a:t>
            </a:r>
          </a:p>
          <a:p>
            <a:pPr lvl="3"/>
            <a:r>
              <a:rPr lang="nl-NL" dirty="0"/>
              <a:t>Vierde niveau</a:t>
            </a:r>
          </a:p>
        </p:txBody>
      </p:sp>
      <p:sp>
        <p:nvSpPr>
          <p:cNvPr id="7" name="shpTitel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nl-NL" altLang="nl-NL"/>
              <a:t>Afdelingsoverleg Projectmanagement 16-02-2016</a:t>
            </a:r>
          </a:p>
        </p:txBody>
      </p:sp>
      <p:sp>
        <p:nvSpPr>
          <p:cNvPr id="8" name="shpKleurvlakBoven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nl-NL" altLang="nl-NL"/>
          </a:p>
        </p:txBody>
      </p:sp>
      <p:sp>
        <p:nvSpPr>
          <p:cNvPr id="9" name="shpBeeldmerk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BA4F0AE-21D7-4A6C-ABCA-006413C10275}" type="slidenum">
              <a:rPr lang="nl-NL"/>
              <a:pPr>
                <a:defRPr/>
              </a:pPr>
              <a:t>‹nr.›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92459044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17" Type="http://schemas.openxmlformats.org/officeDocument/2006/relationships/image" Target="../media/image5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slideLayout" Target="../slideLayouts/slideLayout14.xml"/><Relationship Id="rId7" Type="http://schemas.openxmlformats.org/officeDocument/2006/relationships/image" Target="../media/image4.png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shpKleurvlak"/>
          <p:cNvSpPr>
            <a:spLocks noChangeArrowheads="1"/>
          </p:cNvSpPr>
          <p:nvPr userDrawn="1"/>
        </p:nvSpPr>
        <p:spPr bwMode="auto">
          <a:xfrm>
            <a:off x="6096000" y="0"/>
            <a:ext cx="6096000" cy="6858000"/>
          </a:xfrm>
          <a:prstGeom prst="rect">
            <a:avLst/>
          </a:prstGeom>
          <a:solidFill>
            <a:srgbClr val="046F96"/>
          </a:solidFill>
          <a:ln>
            <a:noFill/>
          </a:ln>
          <a:extLst>
            <a:ext uri="{91240B29-F687-4F45-9708-019B960494DF}">
              <a14:hiddenLine xmlns:a14="http://schemas.microsoft.com/office/drawing/2010/main" w="25400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1pPr>
            <a:lvl2pPr marL="742950" indent="-28575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2pPr>
            <a:lvl3pPr marL="11430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3pPr>
            <a:lvl4pPr marL="16002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4pPr>
            <a:lvl5pPr marL="2057400" indent="-228600"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rgbClr val="000000"/>
                </a:solidFill>
                <a:latin typeface="Verdana" pitchFamily="34" charset="0"/>
                <a:cs typeface="Arial" charset="0"/>
              </a:defRPr>
            </a:lvl9pPr>
          </a:lstStyle>
          <a:p>
            <a:pPr algn="ctr" fontAlgn="base">
              <a:spcBef>
                <a:spcPct val="0"/>
              </a:spcBef>
              <a:spcAft>
                <a:spcPct val="0"/>
              </a:spcAft>
            </a:pPr>
            <a:endParaRPr lang="nl-NL" altLang="nl-NL" sz="1800">
              <a:solidFill>
                <a:srgbClr val="FFFFFF"/>
              </a:solidFill>
            </a:endParaRPr>
          </a:p>
        </p:txBody>
      </p:sp>
      <p:sp>
        <p:nvSpPr>
          <p:cNvPr id="181253" name="shpDatum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572251" y="6380164"/>
            <a:ext cx="4953000" cy="3635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>
                <a:cs typeface="Arial" charset="0"/>
              </a:rPr>
              <a:t>Afdelingsoverleg Projectmanagement 16-02-2016</a:t>
            </a:r>
          </a:p>
        </p:txBody>
      </p:sp>
      <p:sp>
        <p:nvSpPr>
          <p:cNvPr id="3076" name="shpTitel"/>
          <p:cNvSpPr>
            <a:spLocks noGrp="1" noChangeArrowheads="1"/>
          </p:cNvSpPr>
          <p:nvPr>
            <p:ph type="title"/>
          </p:nvPr>
        </p:nvSpPr>
        <p:spPr bwMode="auto">
          <a:xfrm>
            <a:off x="6572251" y="2500313"/>
            <a:ext cx="4669367" cy="571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te bewerken</a:t>
            </a:r>
          </a:p>
        </p:txBody>
      </p:sp>
      <p:sp>
        <p:nvSpPr>
          <p:cNvPr id="3077" name="shpTekst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91300" y="3155951"/>
            <a:ext cx="4650317" cy="305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</p:txBody>
      </p:sp>
      <p:pic>
        <p:nvPicPr>
          <p:cNvPr id="3078" name="Picture 11" descr="DUO pand 5"/>
          <p:cNvPicPr>
            <a:picLocks noChangeAspect="1" noChangeArrowheads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6096000" cy="6858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79" name="Picture 8" descr="Logo_Powerpoint_diap_nl"/>
          <p:cNvPicPr>
            <a:picLocks noChangeAspect="1" noChangeArrowheads="1"/>
          </p:cNvPicPr>
          <p:nvPr userDrawn="1"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20018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60150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5pPr>
      <a:lvl6pPr marL="4572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6pPr>
      <a:lvl7pPr marL="9144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7pPr>
      <a:lvl8pPr marL="13716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8pPr>
      <a:lvl9pPr marL="1828800"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FFFFFF"/>
          </a:solidFill>
          <a:latin typeface="Verdana" pitchFamily="34" charset="0"/>
        </a:defRPr>
      </a:lvl9pPr>
    </p:titleStyle>
    <p:bodyStyle>
      <a:lvl1pPr marL="241300" indent="-241300" algn="l" rtl="0" eaLnBrk="0" fontAlgn="base" hangingPunct="0">
        <a:spcBef>
          <a:spcPct val="0"/>
        </a:spcBef>
        <a:spcAft>
          <a:spcPct val="0"/>
        </a:spcAft>
        <a:buSzPct val="80000"/>
        <a:buChar char="•"/>
        <a:defRPr>
          <a:solidFill>
            <a:srgbClr val="FFFFFF"/>
          </a:solidFill>
          <a:latin typeface="+mn-lt"/>
          <a:ea typeface="+mn-ea"/>
          <a:cs typeface="+mn-cs"/>
        </a:defRPr>
      </a:lvl1pPr>
      <a:lvl2pPr marL="800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5"/>
        </a:buBlip>
        <a:defRPr>
          <a:solidFill>
            <a:srgbClr val="FFFFFF"/>
          </a:solidFill>
          <a:latin typeface="+mn-lt"/>
        </a:defRPr>
      </a:lvl2pPr>
      <a:lvl3pPr marL="1257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6"/>
        </a:buBlip>
        <a:defRPr>
          <a:solidFill>
            <a:srgbClr val="FFFFFF"/>
          </a:solidFill>
          <a:latin typeface="+mn-lt"/>
        </a:defRPr>
      </a:lvl3pPr>
      <a:lvl4pPr marL="1714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17"/>
        </a:buBlip>
        <a:defRPr>
          <a:solidFill>
            <a:srgbClr val="FFFFFF"/>
          </a:solidFill>
          <a:latin typeface="+mn-lt"/>
        </a:defRPr>
      </a:lvl4pPr>
      <a:lvl5pPr marL="21717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5pPr>
      <a:lvl6pPr marL="2628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6pPr>
      <a:lvl7pPr marL="30861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7pPr>
      <a:lvl8pPr marL="35433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8pPr>
      <a:lvl9pPr marL="40005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>
          <a:solidFill>
            <a:srgbClr val="FFFFFF"/>
          </a:solidFill>
          <a:latin typeface="+mn-lt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shpVoettekst"/>
          <p:cNvSpPr>
            <a:spLocks noGrp="1" noChangeArrowheads="1"/>
          </p:cNvSpPr>
          <p:nvPr>
            <p:ph type="title"/>
          </p:nvPr>
        </p:nvSpPr>
        <p:spPr bwMode="auto">
          <a:xfrm>
            <a:off x="488951" y="1233488"/>
            <a:ext cx="10892367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het opmaakprofiel te bewerken</a:t>
            </a:r>
          </a:p>
        </p:txBody>
      </p:sp>
      <p:sp>
        <p:nvSpPr>
          <p:cNvPr id="4099" name="shpPagina"/>
          <p:cNvSpPr>
            <a:spLocks noGrp="1" noChangeArrowheads="1"/>
          </p:cNvSpPr>
          <p:nvPr>
            <p:ph type="body" idx="1"/>
          </p:nvPr>
        </p:nvSpPr>
        <p:spPr bwMode="auto">
          <a:xfrm>
            <a:off x="488951" y="1798638"/>
            <a:ext cx="10892367" cy="4356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nl-NL" altLang="nl-NL"/>
              <a:t>Klik om de opmaakprofielen van de modeltekst te bewerken</a:t>
            </a:r>
          </a:p>
          <a:p>
            <a:pPr lvl="1"/>
            <a:r>
              <a:rPr lang="nl-NL" altLang="nl-NL"/>
              <a:t>Tweede niveau</a:t>
            </a:r>
          </a:p>
          <a:p>
            <a:pPr lvl="2"/>
            <a:r>
              <a:rPr lang="nl-NL" altLang="nl-NL"/>
              <a:t>Derde niveau</a:t>
            </a:r>
          </a:p>
          <a:p>
            <a:pPr lvl="3"/>
            <a:r>
              <a:rPr lang="nl-NL" altLang="nl-NL"/>
              <a:t>Vierde niveau</a:t>
            </a:r>
          </a:p>
        </p:txBody>
      </p:sp>
      <p:sp>
        <p:nvSpPr>
          <p:cNvPr id="11" name="shpTitel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5977468" y="6538913"/>
            <a:ext cx="5541433" cy="315912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nl-NL" altLang="nl-NL">
                <a:latin typeface="Verdana" pitchFamily="34" charset="0"/>
                <a:cs typeface="Arial" charset="0"/>
              </a:rPr>
              <a:t>Afdelingsoverleg Projectmanagement 16-02-2016</a:t>
            </a:r>
          </a:p>
        </p:txBody>
      </p:sp>
      <p:sp>
        <p:nvSpPr>
          <p:cNvPr id="12" name="shpKleurvlakBoven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5969001" y="6369051"/>
            <a:ext cx="5552017" cy="284163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endParaRPr lang="nl-NL" altLang="nl-NL">
              <a:latin typeface="Verdana" pitchFamily="34" charset="0"/>
              <a:cs typeface="Arial" charset="0"/>
            </a:endParaRPr>
          </a:p>
        </p:txBody>
      </p:sp>
      <p:sp>
        <p:nvSpPr>
          <p:cNvPr id="13" name="shpBeeldmerk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516467" y="6362700"/>
            <a:ext cx="950384" cy="363538"/>
          </a:xfrm>
          <a:prstGeom prst="rect">
            <a:avLst/>
          </a:prstGeom>
          <a:noFill/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fld id="{FDABD456-CC95-4B3E-A9EF-A455EB01A5C5}" type="slidenum">
              <a:rPr lang="nl-NL">
                <a:latin typeface="Verdana" pitchFamily="34" charset="0"/>
                <a:cs typeface="Arial" charset="0"/>
              </a:rPr>
              <a:pPr eaLnBrk="0" fontAlgn="base" hangingPunct="0">
                <a:spcBef>
                  <a:spcPct val="0"/>
                </a:spcBef>
                <a:spcAft>
                  <a:spcPct val="0"/>
                </a:spcAft>
                <a:defRPr/>
              </a:pPr>
              <a:t>‹nr.›</a:t>
            </a:fld>
            <a:endParaRPr lang="nl-NL">
              <a:latin typeface="Verdana" pitchFamily="34" charset="0"/>
              <a:cs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052445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</p:sldLayoutIdLst>
  <p:hf sldNum="0" hdr="0" ft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kern="1200">
          <a:solidFill>
            <a:srgbClr val="CC003D"/>
          </a:solidFill>
          <a:latin typeface="Arial" charset="0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>
          <a:solidFill>
            <a:srgbClr val="CC003D"/>
          </a:solidFill>
          <a:latin typeface="Arial" charset="0"/>
          <a:ea typeface="Verdana" pitchFamily="34" charset="0"/>
          <a:cs typeface="Verdana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600">
          <a:solidFill>
            <a:schemeClr val="tx1"/>
          </a:solidFill>
          <a:latin typeface="Verdana" pitchFamily="34" charset="0"/>
          <a:ea typeface="Verdana" pitchFamily="34" charset="0"/>
          <a:cs typeface="Verdana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defRPr kern="1200">
          <a:solidFill>
            <a:srgbClr val="000000"/>
          </a:solidFill>
          <a:latin typeface="Arial" charset="0"/>
          <a:ea typeface="+mn-ea"/>
          <a:cs typeface="+mn-cs"/>
        </a:defRPr>
      </a:lvl1pPr>
      <a:lvl2pPr marL="152400" indent="-150813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6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2pPr>
      <a:lvl3pPr marL="406400" indent="-252413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7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3pPr>
      <a:lvl4pPr marL="633413" indent="-225425" algn="l" rtl="0" eaLnBrk="0" fontAlgn="base" hangingPunct="0">
        <a:spcBef>
          <a:spcPct val="20000"/>
        </a:spcBef>
        <a:spcAft>
          <a:spcPct val="0"/>
        </a:spcAft>
        <a:buFont typeface="Arial" charset="0"/>
        <a:buBlip>
          <a:blip r:embed="rId8"/>
        </a:buBlip>
        <a:defRPr kern="1200">
          <a:solidFill>
            <a:srgbClr val="000000"/>
          </a:solidFill>
          <a:latin typeface="Arial" charset="0"/>
          <a:ea typeface="+mn-ea"/>
          <a:cs typeface="+mn-cs"/>
        </a:defRPr>
      </a:lvl4pPr>
      <a:lvl5pPr marL="811213" indent="-17621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kern="1200">
          <a:solidFill>
            <a:schemeClr val="tx1"/>
          </a:solidFill>
          <a:latin typeface="Arial" charset="0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1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1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15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9" name="Rectangle 2"/>
          <p:cNvSpPr>
            <a:spLocks noGrp="1" noChangeArrowheads="1"/>
          </p:cNvSpPr>
          <p:nvPr>
            <p:ph type="title"/>
          </p:nvPr>
        </p:nvSpPr>
        <p:spPr>
          <a:xfrm>
            <a:off x="6311900" y="2924176"/>
            <a:ext cx="4356100" cy="1296913"/>
          </a:xfrm>
        </p:spPr>
        <p:txBody>
          <a:bodyPr/>
          <a:lstStyle/>
          <a:p>
            <a:br>
              <a:rPr lang="nl-NL" altLang="nl-NL" sz="2200" dirty="0"/>
            </a:br>
            <a:br>
              <a:rPr lang="nl-NL" altLang="nl-NL" sz="2200" dirty="0"/>
            </a:br>
            <a:r>
              <a:rPr lang="nl-NL" altLang="nl-NL" sz="2200" dirty="0"/>
              <a:t>Workshops week 2</a:t>
            </a:r>
            <a:br>
              <a:rPr lang="nl-NL" altLang="nl-NL" sz="2200" dirty="0"/>
            </a:br>
            <a:br>
              <a:rPr lang="nl-NL" altLang="nl-NL" sz="2200" dirty="0"/>
            </a:br>
            <a:br>
              <a:rPr lang="nl-NL" altLang="nl-NL" sz="1400" dirty="0"/>
            </a:br>
            <a:r>
              <a:rPr lang="nl-NL" altLang="nl-NL" sz="1400" dirty="0"/>
              <a:t>Door: Fedde van der List</a:t>
            </a:r>
          </a:p>
        </p:txBody>
      </p:sp>
    </p:spTree>
    <p:extLst>
      <p:ext uri="{BB962C8B-B14F-4D97-AF65-F5344CB8AC3E}">
        <p14:creationId xmlns:p14="http://schemas.microsoft.com/office/powerpoint/2010/main" val="2452705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C5352E7-B994-495A-8358-5CF5B03C0A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Vragen</a:t>
            </a:r>
            <a:r>
              <a:rPr lang="en-US" dirty="0"/>
              <a:t> over </a:t>
            </a:r>
            <a:r>
              <a:rPr lang="en-US" dirty="0" err="1"/>
              <a:t>vorige</a:t>
            </a:r>
            <a:r>
              <a:rPr lang="en-US" dirty="0"/>
              <a:t> week?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66E2CBA9-A277-431D-8CB7-511E0D853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47CF7CEC-2389-4F11-A384-DC279DA56D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316796926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De onderwerpen</a:t>
            </a:r>
          </a:p>
        </p:txBody>
      </p:sp>
      <p:sp>
        <p:nvSpPr>
          <p:cNvPr id="3" name="Tijdelijke aanduiding voor inhoud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test types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Unit testen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Wie is verantwoordelijk voor de testen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Test dekking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Testing</a:t>
            </a:r>
            <a:r>
              <a:rPr lang="nl-NL" dirty="0"/>
              <a:t> </a:t>
            </a:r>
            <a:r>
              <a:rPr lang="nl-NL" dirty="0" err="1"/>
              <a:t>frameworks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Hoe maak je een unit test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Best </a:t>
            </a:r>
            <a:r>
              <a:rPr lang="nl-NL" dirty="0" err="1"/>
              <a:t>practices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76856337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BDCB05E9-B0F9-4C38-BCC4-474B49EAFF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De test types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F2986F4-93CB-43BF-ACF1-80592A4EDA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Blackbox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Greybox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Whitebox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49137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F80F8CB-D3AC-4820-A49D-11588CE95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Unit testen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E20997E-2B03-488D-AAD9-E9B44F2638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Low level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Functie of class scope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pic>
        <p:nvPicPr>
          <p:cNvPr id="6" name="Afbeelding 5" descr="Afbeelding met tekst, person, binnen, persoon&#10;&#10;Automatisch gegenereerde beschrijving">
            <a:extLst>
              <a:ext uri="{FF2B5EF4-FFF2-40B4-BE49-F238E27FC236}">
                <a16:creationId xmlns:a16="http://schemas.microsoft.com/office/drawing/2014/main" id="{18545911-8FC5-4D9C-8348-4C7226ED19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31404" y="1436615"/>
            <a:ext cx="5810250" cy="4572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19432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D38D8F91-483E-41CC-A3E2-1B8C38931A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Wie is verantwoordelijk voor de testen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0098059C-CE23-4CAD-A0B3-F0CABC147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tester?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De </a:t>
            </a:r>
            <a:r>
              <a:rPr lang="en-US" dirty="0" err="1"/>
              <a:t>ontwikkelaar</a:t>
            </a:r>
            <a:r>
              <a:rPr lang="en-US" dirty="0"/>
              <a:t>?</a:t>
            </a:r>
            <a:endParaRPr lang="nl-NL" dirty="0"/>
          </a:p>
        </p:txBody>
      </p:sp>
      <p:pic>
        <p:nvPicPr>
          <p:cNvPr id="6" name="Afbeelding 5">
            <a:extLst>
              <a:ext uri="{FF2B5EF4-FFF2-40B4-BE49-F238E27FC236}">
                <a16:creationId xmlns:a16="http://schemas.microsoft.com/office/drawing/2014/main" id="{2EAF1324-8606-40BB-A9D6-65BF58588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8170" y="0"/>
            <a:ext cx="486383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02273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0F3CC60-B871-4B41-8CD0-4B2656EBB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Test dekking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7E5008C-8853-4949-AD5B-458C8AE91C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Regels voor dekking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80/20 regel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Voorbeeld in </a:t>
            </a:r>
            <a:r>
              <a:rPr lang="nl-NL" dirty="0" err="1"/>
              <a:t>Intellij</a:t>
            </a:r>
            <a:r>
              <a:rPr lang="nl-NL" dirty="0"/>
              <a:t> van tonen </a:t>
            </a:r>
            <a:r>
              <a:rPr lang="nl-NL" dirty="0" err="1"/>
              <a:t>coverage</a:t>
            </a: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18074853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7BCFDC3E-03B4-4C5D-BEE6-1D887F7AD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 err="1"/>
              <a:t>Testing</a:t>
            </a:r>
            <a:r>
              <a:rPr lang="nl-NL" dirty="0"/>
              <a:t> </a:t>
            </a:r>
            <a:r>
              <a:rPr lang="nl-NL" dirty="0" err="1"/>
              <a:t>frameworks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D9D0FC1-6F3F-49B6-BEAE-43419F5F00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JUnit (Java)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NUnit</a:t>
            </a:r>
            <a:r>
              <a:rPr lang="nl-NL" dirty="0"/>
              <a:t> (C#)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TestNG</a:t>
            </a:r>
            <a:r>
              <a:rPr lang="nl-NL" dirty="0"/>
              <a:t> (Java)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Jtest</a:t>
            </a:r>
            <a:r>
              <a:rPr lang="nl-NL" dirty="0"/>
              <a:t> (Java)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PHPUnit</a:t>
            </a:r>
            <a:r>
              <a:rPr lang="nl-NL" dirty="0"/>
              <a:t> (</a:t>
            </a:r>
            <a:r>
              <a:rPr lang="nl-NL" dirty="0" err="1"/>
              <a:t>php</a:t>
            </a:r>
            <a:r>
              <a:rPr lang="nl-NL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 err="1"/>
              <a:t>HtmlUnit</a:t>
            </a:r>
            <a:r>
              <a:rPr lang="nl-NL" dirty="0"/>
              <a:t> (html)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BDD64B23-54A8-4B13-9797-54C344B460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42394172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E686F69-82C6-49E0-92B1-058CE3626C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Hoe maak je een unit test</a:t>
            </a:r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C99220F0-B487-4303-AC9E-E5295A7442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De test </a:t>
            </a:r>
            <a:r>
              <a:rPr lang="nl-NL" dirty="0" err="1"/>
              <a:t>funtie</a:t>
            </a:r>
            <a:r>
              <a:rPr lang="nl-NL" dirty="0"/>
              <a:t> is altijd </a:t>
            </a:r>
            <a:r>
              <a:rPr lang="nl-NL" dirty="0" err="1"/>
              <a:t>void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Er zit </a:t>
            </a:r>
            <a:r>
              <a:rPr lang="en-US" dirty="0" err="1"/>
              <a:t>minimaal</a:t>
            </a:r>
            <a:r>
              <a:rPr lang="en-US" dirty="0"/>
              <a:t> 1 assert in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Bepaal vooraf wat het resultaat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Voorbeeldje in </a:t>
            </a:r>
            <a:r>
              <a:rPr lang="nl-NL" dirty="0" err="1"/>
              <a:t>Junit</a:t>
            </a: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42052204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3B880C5B-38AC-4B17-ACF1-D464858B6E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Assertions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76495911-0EC8-43FE-98C9-F93FBE0225E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assertEquals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</a:t>
            </a:r>
            <a:r>
              <a:rPr lang="en-US" dirty="0" err="1"/>
              <a:t>en</a:t>
            </a:r>
            <a:r>
              <a:rPr lang="en-US" dirty="0"/>
              <a:t> b </a:t>
            </a:r>
            <a:r>
              <a:rPr lang="en-US" dirty="0" err="1"/>
              <a:t>dezelfde</a:t>
            </a:r>
            <a:r>
              <a:rPr lang="en-US" dirty="0"/>
              <a:t> </a:t>
            </a:r>
            <a:r>
              <a:rPr lang="en-US" dirty="0" err="1"/>
              <a:t>waarde</a:t>
            </a:r>
            <a:r>
              <a:rPr lang="en-US" dirty="0"/>
              <a:t> </a:t>
            </a:r>
            <a:r>
              <a:rPr lang="en-US" dirty="0" err="1"/>
              <a:t>hebben</a:t>
            </a:r>
            <a:r>
              <a:rPr lang="en-US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assertTrue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de </a:t>
            </a:r>
            <a:r>
              <a:rPr lang="en-US" dirty="0" err="1"/>
              <a:t>waarde</a:t>
            </a:r>
            <a:r>
              <a:rPr lang="en-US" dirty="0"/>
              <a:t> true </a:t>
            </a:r>
            <a:r>
              <a:rPr lang="en-US" dirty="0" err="1"/>
              <a:t>heeft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assertFalse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de </a:t>
            </a:r>
            <a:r>
              <a:rPr lang="en-US" dirty="0" err="1"/>
              <a:t>waarde</a:t>
            </a:r>
            <a:r>
              <a:rPr lang="en-US" dirty="0"/>
              <a:t> false </a:t>
            </a:r>
            <a:r>
              <a:rPr lang="en-US" dirty="0" err="1"/>
              <a:t>heeft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assertNotNull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</a:t>
            </a:r>
            <a:r>
              <a:rPr lang="en-US" dirty="0" err="1"/>
              <a:t>niet</a:t>
            </a:r>
            <a:r>
              <a:rPr lang="en-US" dirty="0"/>
              <a:t> null 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assertNull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null 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assertSame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</a:t>
            </a:r>
            <a:r>
              <a:rPr lang="en-US" dirty="0" err="1"/>
              <a:t>en</a:t>
            </a:r>
            <a:r>
              <a:rPr lang="en-US" dirty="0"/>
              <a:t> b </a:t>
            </a:r>
            <a:r>
              <a:rPr lang="en-US" dirty="0" err="1"/>
              <a:t>gelijk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elkaar</a:t>
            </a:r>
            <a:r>
              <a:rPr lang="en-US" dirty="0"/>
              <a:t> (object </a:t>
            </a:r>
            <a:r>
              <a:rPr lang="en-US" dirty="0" err="1"/>
              <a:t>niveau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assertNotSame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 </a:t>
            </a:r>
            <a:r>
              <a:rPr lang="en-US" dirty="0" err="1"/>
              <a:t>en</a:t>
            </a:r>
            <a:r>
              <a:rPr lang="en-US" dirty="0"/>
              <a:t> b </a:t>
            </a:r>
            <a:r>
              <a:rPr lang="en-US" dirty="0" err="1"/>
              <a:t>niet</a:t>
            </a:r>
            <a:r>
              <a:rPr lang="en-US" dirty="0"/>
              <a:t> </a:t>
            </a:r>
            <a:r>
              <a:rPr lang="en-US" dirty="0" err="1"/>
              <a:t>gelijk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elkaar</a:t>
            </a:r>
            <a:r>
              <a:rPr lang="en-US" dirty="0"/>
              <a:t> (object </a:t>
            </a:r>
            <a:r>
              <a:rPr lang="en-US" dirty="0" err="1"/>
              <a:t>niveau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 err="1"/>
              <a:t>assertArrayEquals</a:t>
            </a:r>
            <a:r>
              <a:rPr lang="en-US" dirty="0"/>
              <a:t> – test </a:t>
            </a:r>
            <a:r>
              <a:rPr lang="en-US" dirty="0" err="1"/>
              <a:t>dat</a:t>
            </a:r>
            <a:r>
              <a:rPr lang="en-US" dirty="0"/>
              <a:t> array a </a:t>
            </a:r>
            <a:r>
              <a:rPr lang="en-US" dirty="0" err="1"/>
              <a:t>en</a:t>
            </a:r>
            <a:r>
              <a:rPr lang="en-US" dirty="0"/>
              <a:t> array b </a:t>
            </a:r>
            <a:r>
              <a:rPr lang="en-US" dirty="0" err="1"/>
              <a:t>gelijk</a:t>
            </a:r>
            <a:r>
              <a:rPr lang="en-US" dirty="0"/>
              <a:t> </a:t>
            </a:r>
            <a:r>
              <a:rPr lang="en-US" dirty="0" err="1"/>
              <a:t>zijn</a:t>
            </a:r>
            <a:r>
              <a:rPr lang="en-US" dirty="0"/>
              <a:t> </a:t>
            </a:r>
            <a:r>
              <a:rPr lang="en-US" dirty="0" err="1"/>
              <a:t>aan</a:t>
            </a:r>
            <a:r>
              <a:rPr lang="en-US" dirty="0"/>
              <a:t> </a:t>
            </a:r>
            <a:r>
              <a:rPr lang="en-US" dirty="0" err="1"/>
              <a:t>elkaar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Zie</a:t>
            </a:r>
            <a:r>
              <a:rPr lang="en-US" dirty="0"/>
              <a:t> de </a:t>
            </a:r>
            <a:r>
              <a:rPr lang="en-US" dirty="0" err="1"/>
              <a:t>voorbeelden</a:t>
            </a:r>
            <a:r>
              <a:rPr lang="en-US" dirty="0"/>
              <a:t> in week 2</a:t>
            </a:r>
            <a:endParaRPr lang="nl-NL" dirty="0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8E9DAE7A-EE79-4E88-80E5-6FCF8A8CE6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nl-NL" altLang="nl-NL"/>
              <a:t>Afdelingsoverleg Projectmanagement 16-02-2016</a:t>
            </a:r>
          </a:p>
        </p:txBody>
      </p:sp>
    </p:spTree>
    <p:extLst>
      <p:ext uri="{BB962C8B-B14F-4D97-AF65-F5344CB8AC3E}">
        <p14:creationId xmlns:p14="http://schemas.microsoft.com/office/powerpoint/2010/main" val="12270120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9B0C19-1954-44D8-A055-1E88A4E429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nl-NL" dirty="0"/>
              <a:t>Best </a:t>
            </a:r>
            <a:r>
              <a:rPr lang="nl-NL" dirty="0" err="1"/>
              <a:t>practices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E26FF4C0-DD5C-4595-AC71-4D2D84A738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KISS (Keep IT Simply Stupid)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Maak </a:t>
            </a:r>
            <a:r>
              <a:rPr lang="en-US" dirty="0" err="1"/>
              <a:t>gebruik</a:t>
            </a:r>
            <a:r>
              <a:rPr lang="en-US" dirty="0"/>
              <a:t> van </a:t>
            </a:r>
            <a:r>
              <a:rPr lang="en-US" dirty="0" err="1"/>
              <a:t>duidelijke</a:t>
            </a:r>
            <a:r>
              <a:rPr lang="en-US" dirty="0"/>
              <a:t> </a:t>
            </a:r>
            <a:r>
              <a:rPr lang="en-US" dirty="0" err="1"/>
              <a:t>namen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Stijl de test in 3 stappen:</a:t>
            </a:r>
          </a:p>
          <a:p>
            <a:pPr marL="465138" lvl="1" indent="-285750"/>
            <a:r>
              <a:rPr lang="nl-NL" dirty="0"/>
              <a:t>Gegeven (</a:t>
            </a:r>
            <a:r>
              <a:rPr lang="nl-NL" dirty="0" err="1"/>
              <a:t>uitgangs</a:t>
            </a:r>
            <a:r>
              <a:rPr lang="nl-NL" dirty="0"/>
              <a:t> situatie)</a:t>
            </a:r>
          </a:p>
          <a:p>
            <a:pPr marL="465138" lvl="1" indent="-285750"/>
            <a:r>
              <a:rPr lang="nl-NL" dirty="0"/>
              <a:t>Als (iets dat een gebruiker of de software kan uitvoeren)</a:t>
            </a:r>
          </a:p>
          <a:p>
            <a:pPr marL="465138" lvl="1" indent="-285750"/>
            <a:r>
              <a:rPr lang="nl-NL" dirty="0"/>
              <a:t>Dan (je resultaat, dat je vooraf hebt bepaald)</a:t>
            </a:r>
          </a:p>
          <a:p>
            <a:pPr marL="465138" lvl="1" indent="-285750"/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Maak je test zo klein mogelijk (beperk je test cases)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Maar meer testen is niet altijd beter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Test de rand gevallen, een goed situatie en een fout situatie</a:t>
            </a:r>
          </a:p>
        </p:txBody>
      </p:sp>
    </p:spTree>
    <p:extLst>
      <p:ext uri="{BB962C8B-B14F-4D97-AF65-F5344CB8AC3E}">
        <p14:creationId xmlns:p14="http://schemas.microsoft.com/office/powerpoint/2010/main" val="37305496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Tijdelijke aanduiding voor inhoud 5" descr="Afbeelding met tekst, binnen&#10;&#10;Automatisch gegenereerde beschrijving">
            <a:extLst>
              <a:ext uri="{FF2B5EF4-FFF2-40B4-BE49-F238E27FC236}">
                <a16:creationId xmlns:a16="http://schemas.microsoft.com/office/drawing/2014/main" id="{57D1B058-4D61-44B7-8584-3A38AF6D5B9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5911" y="850119"/>
            <a:ext cx="8179266" cy="5643694"/>
          </a:xfrm>
        </p:spPr>
      </p:pic>
    </p:spTree>
    <p:extLst>
      <p:ext uri="{BB962C8B-B14F-4D97-AF65-F5344CB8AC3E}">
        <p14:creationId xmlns:p14="http://schemas.microsoft.com/office/powerpoint/2010/main" val="3975882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E0168D4A-4CC2-4C8A-9EAC-030D92F998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 </a:t>
            </a:r>
            <a:r>
              <a:rPr lang="en-US" dirty="0" err="1"/>
              <a:t>opdrachten</a:t>
            </a:r>
            <a:endParaRPr lang="nl-NL" dirty="0"/>
          </a:p>
        </p:txBody>
      </p:sp>
      <p:sp>
        <p:nvSpPr>
          <p:cNvPr id="3" name="Tijdelijke aanduiding voor inhoud 2">
            <a:extLst>
              <a:ext uri="{FF2B5EF4-FFF2-40B4-BE49-F238E27FC236}">
                <a16:creationId xmlns:a16="http://schemas.microsoft.com/office/drawing/2014/main" id="{30933058-9E7B-4EDA-99DA-693B790F6C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Zie</a:t>
            </a:r>
            <a:r>
              <a:rPr lang="en-US" dirty="0"/>
              <a:t> week 2 van het git project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nl-NL" dirty="0"/>
              <a:t>Probeer de opdrachten zo te maken als in de omschrijving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3853962536"/>
      </p:ext>
    </p:extLst>
  </p:cSld>
  <p:clrMapOvr>
    <a:masterClrMapping/>
  </p:clrMapOvr>
</p:sld>
</file>

<file path=ppt/theme/theme1.xml><?xml version="1.0" encoding="utf-8"?>
<a:theme xmlns:a="http://schemas.openxmlformats.org/drawingml/2006/main" name="Inhoud bullet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Inhoud bullet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Inhoud bullet 1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24C2B0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20B09F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2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8AE8B"/>
        </a:accent1>
        <a:accent2>
          <a:srgbClr val="2494C5"/>
        </a:accent2>
        <a:accent3>
          <a:srgbClr val="FFFFFF"/>
        </a:accent3>
        <a:accent4>
          <a:srgbClr val="000000"/>
        </a:accent4>
        <a:accent5>
          <a:srgbClr val="B4D3C4"/>
        </a:accent5>
        <a:accent6>
          <a:srgbClr val="2086B2"/>
        </a:accent6>
        <a:hlink>
          <a:srgbClr val="9ACCD4"/>
        </a:hlink>
        <a:folHlink>
          <a:srgbClr val="A100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Inhoud bullet 3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58AE8B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4F9D7D"/>
        </a:accent6>
        <a:hlink>
          <a:srgbClr val="2494C5"/>
        </a:hlink>
        <a:folHlink>
          <a:srgbClr val="9ACC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Standaardontwerp">
  <a:themeElements>
    <a:clrScheme name="">
      <a:dk1>
        <a:srgbClr val="000000"/>
      </a:dk1>
      <a:lt1>
        <a:srgbClr val="FFFFFF"/>
      </a:lt1>
      <a:dk2>
        <a:srgbClr val="046F96"/>
      </a:dk2>
      <a:lt2>
        <a:srgbClr val="EEECE1"/>
      </a:lt2>
      <a:accent1>
        <a:srgbClr val="046F96"/>
      </a:accent1>
      <a:accent2>
        <a:srgbClr val="9ACCD4"/>
      </a:accent2>
      <a:accent3>
        <a:srgbClr val="FFFFFF"/>
      </a:accent3>
      <a:accent4>
        <a:srgbClr val="000000"/>
      </a:accent4>
      <a:accent5>
        <a:srgbClr val="AABBC9"/>
      </a:accent5>
      <a:accent6>
        <a:srgbClr val="8BB9C0"/>
      </a:accent6>
      <a:hlink>
        <a:srgbClr val="ED8FBB"/>
      </a:hlink>
      <a:folHlink>
        <a:srgbClr val="900079"/>
      </a:folHlink>
    </a:clrScheme>
    <a:fontScheme name="1_Standaardontwerp">
      <a:majorFont>
        <a:latin typeface=""/>
        <a:ea typeface=""/>
        <a:cs typeface=""/>
      </a:majorFont>
      <a:minorFont>
        <a:latin typeface="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 kolommen 1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24C2B0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20B09F"/>
        </a:accent6>
        <a:hlink>
          <a:srgbClr val="0000FF"/>
        </a:hlink>
        <a:folHlink>
          <a:srgbClr val="80008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 kolommen 2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8AE8B"/>
        </a:accent1>
        <a:accent2>
          <a:srgbClr val="2494C5"/>
        </a:accent2>
        <a:accent3>
          <a:srgbClr val="FFFFFF"/>
        </a:accent3>
        <a:accent4>
          <a:srgbClr val="000000"/>
        </a:accent4>
        <a:accent5>
          <a:srgbClr val="B4D3C4"/>
        </a:accent5>
        <a:accent6>
          <a:srgbClr val="2086B2"/>
        </a:accent6>
        <a:hlink>
          <a:srgbClr val="9ACCD4"/>
        </a:hlink>
        <a:folHlink>
          <a:srgbClr val="A1008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 kolommen 3">
        <a:dk1>
          <a:srgbClr val="000000"/>
        </a:dk1>
        <a:lt1>
          <a:srgbClr val="FFFFFF"/>
        </a:lt1>
        <a:dk2>
          <a:srgbClr val="529D26"/>
        </a:dk2>
        <a:lt2>
          <a:srgbClr val="EEECE1"/>
        </a:lt2>
        <a:accent1>
          <a:srgbClr val="529D26"/>
        </a:accent1>
        <a:accent2>
          <a:srgbClr val="58AE8B"/>
        </a:accent2>
        <a:accent3>
          <a:srgbClr val="FFFFFF"/>
        </a:accent3>
        <a:accent4>
          <a:srgbClr val="000000"/>
        </a:accent4>
        <a:accent5>
          <a:srgbClr val="B3CCAC"/>
        </a:accent5>
        <a:accent6>
          <a:srgbClr val="4F9D7D"/>
        </a:accent6>
        <a:hlink>
          <a:srgbClr val="2494C5"/>
        </a:hlink>
        <a:folHlink>
          <a:srgbClr val="9ACCD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Kantoorthe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278</TotalTime>
  <Words>340</Words>
  <Application>Microsoft Office PowerPoint</Application>
  <PresentationFormat>Breedbeeld</PresentationFormat>
  <Paragraphs>92</Paragraphs>
  <Slides>13</Slides>
  <Notes>2</Notes>
  <HiddenSlides>0</HiddenSlides>
  <MMClips>0</MMClips>
  <ScaleCrop>false</ScaleCrop>
  <HeadingPairs>
    <vt:vector size="6" baseType="variant">
      <vt:variant>
        <vt:lpstr>Gebruikte lettertypen</vt:lpstr>
      </vt:variant>
      <vt:variant>
        <vt:i4>3</vt:i4>
      </vt:variant>
      <vt:variant>
        <vt:lpstr>Thema</vt:lpstr>
      </vt:variant>
      <vt:variant>
        <vt:i4>2</vt:i4>
      </vt:variant>
      <vt:variant>
        <vt:lpstr>Diatitels</vt:lpstr>
      </vt:variant>
      <vt:variant>
        <vt:i4>13</vt:i4>
      </vt:variant>
    </vt:vector>
  </HeadingPairs>
  <TitlesOfParts>
    <vt:vector size="18" baseType="lpstr">
      <vt:lpstr>Arial</vt:lpstr>
      <vt:lpstr>Calibri</vt:lpstr>
      <vt:lpstr>Verdana</vt:lpstr>
      <vt:lpstr>Inhoud bullet</vt:lpstr>
      <vt:lpstr>1_Standaardontwerp</vt:lpstr>
      <vt:lpstr>  Workshops week 2   Door: Fedde van der List</vt:lpstr>
      <vt:lpstr>Vragen over vorige week?</vt:lpstr>
      <vt:lpstr>De onderwerpen</vt:lpstr>
      <vt:lpstr>De test types</vt:lpstr>
      <vt:lpstr>Unit testen</vt:lpstr>
      <vt:lpstr>Wie is verantwoordelijk voor de testen</vt:lpstr>
      <vt:lpstr>Test dekking</vt:lpstr>
      <vt:lpstr>Testing frameworks</vt:lpstr>
      <vt:lpstr>Hoe maak je een unit test</vt:lpstr>
      <vt:lpstr>Assertions</vt:lpstr>
      <vt:lpstr>Best practices</vt:lpstr>
      <vt:lpstr>PowerPoint-presentatie</vt:lpstr>
      <vt:lpstr>De opdrachten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Workshops week 2   Door: Fedde van der List</dc:title>
  <dc:creator>List F van der, Fedde</dc:creator>
  <cp:lastModifiedBy>List F van der, Fedde</cp:lastModifiedBy>
  <cp:revision>22</cp:revision>
  <dcterms:created xsi:type="dcterms:W3CDTF">2023-01-02T07:47:56Z</dcterms:created>
  <dcterms:modified xsi:type="dcterms:W3CDTF">2023-01-02T13:37:35Z</dcterms:modified>
</cp:coreProperties>
</file>