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.xml.rels" ContentType="application/vnd.openxmlformats-package.relationships+xml"/>
  <Override PartName="/ppt/slideLayouts/slideLayout1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media/image1.jpeg" ContentType="image/jpeg"/>
  <Override PartName="/ppt/media/image9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491040" y="1233000"/>
            <a:ext cx="10462320" cy="264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586188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93200" y="4030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586188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03560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757764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49320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03560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757764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2E6496C-0103-4883-BEC8-1EE5616D25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828D85C-6AB7-4AE6-ABBF-E9A36F125F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D2012638-5F6C-4D9C-8D19-7F8C7F8B3C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CC5D15C-7612-498B-A5FA-AB50D963A0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F07AF01-8775-4A2E-8DC3-BCF25A4813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91040" y="1233000"/>
            <a:ext cx="10462320" cy="264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82AA6E74-0653-4445-8A5F-18DE66A576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42E9E78-E073-4E10-B522-ABC96F1A24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86188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8FCE806-EA29-4470-8CA3-EB9C01D447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A48B082D-A449-4238-86B2-8787712520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93200" y="4030560"/>
            <a:ext cx="1047708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9911794-C7F9-4B8C-8486-A6C1C95236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5861880" y="1798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9320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5861880" y="4030560"/>
            <a:ext cx="511272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D4EB13B-4712-4579-B104-4AA95F473B6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403560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7577640" y="1798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9320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403560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7577640" y="4030560"/>
            <a:ext cx="3373200" cy="20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8546E2D-21D7-4584-85A4-A658CDE082B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pKleurvlak"/>
          <p:cNvSpPr/>
          <p:nvPr/>
        </p:nvSpPr>
        <p:spPr>
          <a:xfrm>
            <a:off x="6095880" y="0"/>
            <a:ext cx="6095520" cy="6857640"/>
          </a:xfrm>
          <a:prstGeom prst="rect">
            <a:avLst/>
          </a:prstGeom>
          <a:solidFill>
            <a:srgbClr val="046f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</p:txBody>
      </p:sp>
      <p:pic>
        <p:nvPicPr>
          <p:cNvPr id="1" name="Picture 11" descr="DUO pand 5"/>
          <p:cNvPicPr/>
          <p:nvPr/>
        </p:nvPicPr>
        <p:blipFill>
          <a:blip r:embed="rId2"/>
          <a:stretch/>
        </p:blipFill>
        <p:spPr>
          <a:xfrm>
            <a:off x="0" y="0"/>
            <a:ext cx="6095520" cy="6857640"/>
          </a:xfrm>
          <a:prstGeom prst="rect">
            <a:avLst/>
          </a:prstGeom>
          <a:ln w="0">
            <a:noFill/>
          </a:ln>
        </p:spPr>
      </p:pic>
      <p:pic>
        <p:nvPicPr>
          <p:cNvPr id="2" name="Picture 8" descr="Logo_Powerpoint_diap_nl"/>
          <p:cNvPicPr/>
          <p:nvPr/>
        </p:nvPicPr>
        <p:blipFill>
          <a:blip r:embed="rId3"/>
          <a:stretch/>
        </p:blipFill>
        <p:spPr>
          <a:xfrm>
            <a:off x="0" y="0"/>
            <a:ext cx="12191760" cy="20016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572160" y="2500200"/>
            <a:ext cx="4668840" cy="5713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nl-NL" sz="2600" spc="-1" strike="noStrike">
                <a:solidFill>
                  <a:srgbClr val="ffffff"/>
                </a:solidFill>
                <a:latin typeface="Verdana"/>
              </a:rPr>
              <a:t>Klik om de stijl te bewerken</a:t>
            </a:r>
            <a:endParaRPr b="0" lang="nl-NL" sz="2600" spc="-1" strike="noStrike">
              <a:solidFill>
                <a:srgbClr val="000000"/>
              </a:solidFill>
              <a:latin typeface="Verdana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591240" y="3156120"/>
            <a:ext cx="4650120" cy="30589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pPr marL="241200" indent="-241200">
              <a:lnSpc>
                <a:spcPct val="100000"/>
              </a:lnSpc>
              <a:buClr>
                <a:srgbClr val="ffffff"/>
              </a:buClr>
              <a:buSzPct val="80000"/>
              <a:buFont typeface="Symbol" charset="2"/>
              <a:buChar char=""/>
            </a:pPr>
            <a:r>
              <a:rPr b="0" lang="nl-NL" sz="1800" spc="-1" strike="noStrike">
                <a:solidFill>
                  <a:srgbClr val="ffffff"/>
                </a:solidFill>
                <a:latin typeface="Verdana"/>
              </a:rPr>
              <a:t>Klik om de modelstijlen te bewerken</a:t>
            </a: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  <a:p>
            <a:pPr lvl="1" marL="800280" indent="-343080">
              <a:lnSpc>
                <a:spcPct val="100000"/>
              </a:lnSpc>
              <a:spcBef>
                <a:spcPts val="360"/>
              </a:spcBef>
              <a:buSzPct val="100112"/>
              <a:buBlip>
                <a:blip r:embed="rId4"/>
              </a:buBlip>
            </a:pPr>
            <a:r>
              <a:rPr b="0" lang="nl-NL" sz="1800" spc="-1" strike="noStrike">
                <a:solidFill>
                  <a:srgbClr val="ffffff"/>
                </a:solidFill>
                <a:latin typeface="Verdana"/>
              </a:rPr>
              <a:t>Tweede niveau</a:t>
            </a: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  <a:p>
            <a:pPr lvl="2" marL="1257480" indent="-343080">
              <a:lnSpc>
                <a:spcPct val="100000"/>
              </a:lnSpc>
              <a:spcBef>
                <a:spcPts val="360"/>
              </a:spcBef>
              <a:buSzPct val="100112"/>
              <a:buBlip>
                <a:blip r:embed="rId5"/>
              </a:buBlip>
            </a:pPr>
            <a:r>
              <a:rPr b="0" lang="nl-NL" sz="1800" spc="-1" strike="noStrike">
                <a:solidFill>
                  <a:srgbClr val="ffffff"/>
                </a:solidFill>
                <a:latin typeface="Verdana"/>
              </a:rPr>
              <a:t>Derde niveau</a:t>
            </a: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  <a:p>
            <a:pPr lvl="3" marL="1714680" indent="-343080">
              <a:lnSpc>
                <a:spcPct val="100000"/>
              </a:lnSpc>
              <a:spcBef>
                <a:spcPts val="360"/>
              </a:spcBef>
              <a:buSzPct val="100112"/>
              <a:buBlip>
                <a:blip r:embed="rId6"/>
              </a:buBlip>
            </a:pPr>
            <a:r>
              <a:rPr b="0" lang="nl-NL" sz="1800" spc="-1" strike="noStrike">
                <a:solidFill>
                  <a:srgbClr val="ffffff"/>
                </a:solidFill>
                <a:latin typeface="Verdana"/>
              </a:rPr>
              <a:t>Vierde niveau</a:t>
            </a: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  <a:p>
            <a:pPr lvl="4" marL="2171880" indent="-343080">
              <a:lnSpc>
                <a:spcPct val="100000"/>
              </a:lnSpc>
              <a:spcBef>
                <a:spcPts val="360"/>
              </a:spcBef>
              <a:buClr>
                <a:srgbClr val="ffffff"/>
              </a:buClr>
              <a:buFont typeface="Arial"/>
              <a:buChar char="»"/>
            </a:pPr>
            <a:r>
              <a:rPr b="0" lang="nl-NL" sz="1800" spc="-1" strike="noStrike">
                <a:solidFill>
                  <a:srgbClr val="ffffff"/>
                </a:solidFill>
                <a:latin typeface="Verdana"/>
              </a:rPr>
              <a:t>Vijfde niveau</a:t>
            </a: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572160" y="6380280"/>
            <a:ext cx="4952520" cy="36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indent="0">
              <a:lnSpc>
                <a:spcPct val="100000"/>
              </a:lnSpc>
              <a:buNone/>
              <a:defRPr b="0" lang="nl-NL" sz="1000" spc="-1" strike="noStrike">
                <a:solidFill>
                  <a:srgbClr val="ffffff"/>
                </a:solidFill>
                <a:latin typeface="Verdana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nl-NL" sz="1000" spc="-1" strike="noStrike">
                <a:solidFill>
                  <a:srgbClr val="ffffff"/>
                </a:solidFill>
                <a:latin typeface="Verdana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pKleurvlakOnder"/>
          <p:cNvSpPr/>
          <p:nvPr/>
        </p:nvSpPr>
        <p:spPr>
          <a:xfrm>
            <a:off x="0" y="6318360"/>
            <a:ext cx="12191760" cy="539280"/>
          </a:xfrm>
          <a:prstGeom prst="rect">
            <a:avLst/>
          </a:prstGeom>
          <a:solidFill>
            <a:srgbClr val="046f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</p:txBody>
      </p:sp>
      <p:sp>
        <p:nvSpPr>
          <p:cNvPr id="43" name="shpTekst"/>
          <p:cNvSpPr/>
          <p:nvPr/>
        </p:nvSpPr>
        <p:spPr>
          <a:xfrm>
            <a:off x="0" y="0"/>
            <a:ext cx="12191760" cy="1071360"/>
          </a:xfrm>
          <a:prstGeom prst="rect">
            <a:avLst/>
          </a:prstGeom>
          <a:solidFill>
            <a:srgbClr val="046f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rgbClr val="ffffff"/>
              </a:solidFill>
              <a:latin typeface="Verdana"/>
            </a:endParaRPr>
          </a:p>
        </p:txBody>
      </p:sp>
      <p:pic>
        <p:nvPicPr>
          <p:cNvPr id="44" name="shpDatum" descr="RO__vervolgpagina~LPPT.png"/>
          <p:cNvPicPr/>
          <p:nvPr/>
        </p:nvPicPr>
        <p:blipFill>
          <a:blip r:embed="rId2"/>
          <a:stretch/>
        </p:blipFill>
        <p:spPr>
          <a:xfrm>
            <a:off x="0" y="0"/>
            <a:ext cx="12191760" cy="85680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Klik om de stijl te bewerken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nl-NL" sz="1800" spc="-1" strike="noStrike">
                <a:solidFill>
                  <a:srgbClr val="000000"/>
                </a:solidFill>
                <a:latin typeface="Verdana"/>
                <a:ea typeface="Verdana"/>
              </a:rPr>
              <a:t>Klik om de modelstijlen te bewerken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lvl="1" marL="179280" indent="-17928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nl-NL" sz="1800" spc="-1" strike="noStrike">
                <a:solidFill>
                  <a:srgbClr val="000000"/>
                </a:solidFill>
                <a:latin typeface="Verdana"/>
                <a:ea typeface="Verdana"/>
              </a:rPr>
              <a:t>Tweede niveau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lvl="2" marL="396000" indent="-252000">
              <a:lnSpc>
                <a:spcPct val="90000"/>
              </a:lnSpc>
              <a:spcBef>
                <a:spcPts val="499"/>
              </a:spcBef>
              <a:buSzPct val="100112"/>
              <a:buBlip>
                <a:blip r:embed="rId3"/>
              </a:buBlip>
              <a:tabLst>
                <a:tab algn="l" pos="0"/>
              </a:tabLst>
            </a:pPr>
            <a:r>
              <a:rPr b="0" lang="nl-NL" sz="1800" spc="-1" strike="noStrike">
                <a:solidFill>
                  <a:srgbClr val="000000"/>
                </a:solidFill>
                <a:latin typeface="Verdana"/>
                <a:ea typeface="Verdana"/>
              </a:rPr>
              <a:t>Derde niveau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lvl="3" marL="539640" indent="-144000">
              <a:lnSpc>
                <a:spcPct val="90000"/>
              </a:lnSpc>
              <a:spcBef>
                <a:spcPts val="499"/>
              </a:spcBef>
              <a:buSzPct val="100112"/>
              <a:buBlip>
                <a:blip r:embed="rId4"/>
              </a:buBlip>
              <a:tabLst>
                <a:tab algn="l" pos="0"/>
              </a:tabLst>
            </a:pPr>
            <a:r>
              <a:rPr b="0" lang="nl-NL" sz="1800" spc="-1" strike="noStrike">
                <a:solidFill>
                  <a:srgbClr val="000000"/>
                </a:solidFill>
                <a:latin typeface="Verdana"/>
                <a:ea typeface="Verdana"/>
              </a:rPr>
              <a:t>Vierde niveau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nl-NL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nl-NL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nl-NL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2B51D65-8AD0-459F-A1D1-8AB08961C497}" type="slidenum">
              <a:rPr b="0" lang="nl-NL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311880" y="2924280"/>
            <a:ext cx="4355640" cy="1296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p>
            <a:pPr indent="0">
              <a:lnSpc>
                <a:spcPct val="100000"/>
              </a:lnSpc>
              <a:buNone/>
            </a:pPr>
            <a:br>
              <a:rPr sz="2200"/>
            </a:br>
            <a:br>
              <a:rPr sz="2200"/>
            </a:br>
            <a:r>
              <a:rPr b="0" lang="nl-NL" sz="2200" spc="-1" strike="noStrike">
                <a:solidFill>
                  <a:srgbClr val="ffffff"/>
                </a:solidFill>
                <a:latin typeface="Verdana"/>
              </a:rPr>
              <a:t>Workshops week 5</a:t>
            </a:r>
            <a:br>
              <a:rPr sz="2200"/>
            </a:br>
            <a:br>
              <a:rPr sz="2200"/>
            </a:br>
            <a:br>
              <a:rPr sz="1400"/>
            </a:br>
            <a:r>
              <a:rPr b="0" lang="nl-NL" sz="1400" spc="-1" strike="noStrike">
                <a:solidFill>
                  <a:srgbClr val="ffffff"/>
                </a:solidFill>
                <a:latin typeface="Verdana"/>
              </a:rPr>
              <a:t>Door: Fedde van der List</a:t>
            </a:r>
            <a:endParaRPr b="0" lang="nl-NL" sz="1400" spc="-1" strike="noStrike">
              <a:solidFill>
                <a:srgbClr val="000000"/>
              </a:solidFill>
              <a:latin typeface="Verdan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7" name="Rectangle 9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11"/>
          <p:cNvSpPr/>
          <p:nvPr/>
        </p:nvSpPr>
        <p:spPr>
          <a:xfrm flipH="1" rot="5400000">
            <a:off x="-1418040" y="1417680"/>
            <a:ext cx="6875280" cy="4040280"/>
          </a:xfrm>
          <a:prstGeom prst="rect">
            <a:avLst/>
          </a:prstGeom>
          <a:gradFill rotWithShape="0">
            <a:gsLst>
              <a:gs pos="0">
                <a:srgbClr val="000000"/>
              </a:gs>
              <a:gs pos="100000">
                <a:srgbClr val="2f5597"/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3"/>
          <p:cNvSpPr/>
          <p:nvPr/>
        </p:nvSpPr>
        <p:spPr>
          <a:xfrm rot="16200000">
            <a:off x="-158400" y="2660760"/>
            <a:ext cx="4355280" cy="4038120"/>
          </a:xfrm>
          <a:prstGeom prst="rect">
            <a:avLst/>
          </a:prstGeom>
          <a:gradFill rotWithShape="0">
            <a:gsLst>
              <a:gs pos="0">
                <a:srgbClr val="4472c4">
                  <a:alpha val="50196"/>
                </a:srgbClr>
              </a:gs>
              <a:gs pos="100000">
                <a:srgbClr val="203864">
                  <a:alpha val="0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ectangle 15"/>
          <p:cNvSpPr/>
          <p:nvPr/>
        </p:nvSpPr>
        <p:spPr>
          <a:xfrm flipH="1" rot="16200000">
            <a:off x="-1181160" y="1638000"/>
            <a:ext cx="6857280" cy="3580920"/>
          </a:xfrm>
          <a:prstGeom prst="rect">
            <a:avLst/>
          </a:prstGeom>
          <a:gradFill rotWithShape="0">
            <a:gsLst>
              <a:gs pos="31000">
                <a:srgbClr val="4472c4">
                  <a:alpha val="0"/>
                </a:srgbClr>
              </a:gs>
              <a:gs pos="100000">
                <a:srgbClr val="000000">
                  <a:alpha val="59215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Freeform: Shape 17"/>
          <p:cNvSpPr/>
          <p:nvPr/>
        </p:nvSpPr>
        <p:spPr>
          <a:xfrm rot="6097800">
            <a:off x="-746640" y="1200960"/>
            <a:ext cx="4807800" cy="4088160"/>
          </a:xfrm>
          <a:custGeom>
            <a:avLst/>
            <a:gdLst>
              <a:gd name="textAreaLeft" fmla="*/ 0 w 4807800"/>
              <a:gd name="textAreaRight" fmla="*/ 4808160 w 4807800"/>
              <a:gd name="textAreaTop" fmla="*/ 0 h 4088160"/>
              <a:gd name="textAreaBottom" fmla="*/ 4088520 h 4088160"/>
            </a:gdLst>
            <a:ahLst/>
            <a:rect l="textAreaLeft" t="textAreaTop" r="textAreaRight" b="textAreaBottom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 rotWithShape="0">
            <a:gsLst>
              <a:gs pos="39000">
                <a:srgbClr val="8faadc">
                  <a:alpha val="0"/>
                </a:srgbClr>
              </a:gs>
              <a:gs pos="100000">
                <a:srgbClr val="2f5597">
                  <a:alpha val="26274"/>
                </a:srgbClr>
              </a:gs>
            </a:gsLst>
            <a:lin ang="3096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59880" y="2766960"/>
            <a:ext cx="2880360" cy="30715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nl-NL" sz="4000" spc="-60" strike="noStrike">
                <a:solidFill>
                  <a:srgbClr val="ffffff"/>
                </a:solidFill>
                <a:latin typeface="Calibri Light"/>
              </a:rPr>
              <a:t>Vragen over vorige week?</a:t>
            </a:r>
            <a:endParaRPr b="0" lang="nl-NL" sz="4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De onderwerpen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Feature files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Verdana"/>
              </a:rPr>
              <a:t>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Beslistabellen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Verdana"/>
              </a:rPr>
              <a:t>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Cypress.io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Feature files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95720" y="180432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Beter bekend als gherkins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Een manier om testen te schrijven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4572000" y="1658520"/>
            <a:ext cx="7620120" cy="451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De nederlandse gherkin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Stel (given) : Uitgangssituatie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Als (When) : actie/handeling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Dan (Then) : verwacht resultaat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En (And) : extra stap voor de bovengenoemde stappen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Voorbeeld uit vorige week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9320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Login op outlook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Stel (given) :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Als (When) :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Dan (Then) :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En (And) : 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Beslis tabel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93200" y="16704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Manier om verschillende combinaties uit te schrijven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Snelle en handige manier om verschillende flows te maken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Beslistabel voorbeeld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93200" y="16704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Stel ik moet een login scherm testen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Eerst bekijken we alle opties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Wat kun je invullen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Wat zijn je uitkomsten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Uitkomst beslistabel voorbeeld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93200" y="16704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1"/>
          <a:stretch/>
        </p:blipFill>
        <p:spPr>
          <a:xfrm>
            <a:off x="-424800" y="2657880"/>
            <a:ext cx="12583080" cy="2828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Cypress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93200" y="16704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Platform om schermen te testen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Te gebruiken op elke website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Typescript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Installatie handleiding (https://docs.cypress.io/guides/getting-started/installing-cypress)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Cypress benodigede comando’s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95720" y="18990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Cy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cy.visit(‘www.google.nl’)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cy.get(‘&lt;html-veld-naam&gt;’)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type(‘de text’)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Click()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clear()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Cypress studio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95720" y="189900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https://docs.cypress.io/guides/references/cypress-studio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Test je scherm zonder code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Nog in beta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0">
              <a:lnSpc>
                <a:spcPct val="90000"/>
              </a:lnSpc>
              <a:spcBef>
                <a:spcPts val="1001"/>
              </a:spcBef>
              <a:buNone/>
            </a:pP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Verdana"/>
                <a:ea typeface="Verdana"/>
              </a:rPr>
              <a:t>Demo</a:t>
            </a:r>
            <a:endParaRPr b="0" lang="nl-N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54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7464600" y="1783800"/>
            <a:ext cx="4087080" cy="28886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 indent="0">
              <a:lnSpc>
                <a:spcPct val="90000"/>
              </a:lnSpc>
              <a:buNone/>
            </a:pPr>
            <a:r>
              <a:rPr b="0" lang="nl-NL" sz="5400" spc="-60" strike="noStrike">
                <a:solidFill>
                  <a:srgbClr val="ffffff"/>
                </a:solidFill>
                <a:latin typeface="Calibri Light"/>
              </a:rPr>
              <a:t>Vragen?</a:t>
            </a:r>
            <a:endParaRPr b="0" lang="nl-NL" sz="5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Freeform: Shape 9"/>
          <p:cNvSpPr/>
          <p:nvPr/>
        </p:nvSpPr>
        <p:spPr>
          <a:xfrm flipH="1" flipV="1">
            <a:off x="0" y="-360"/>
            <a:ext cx="7187760" cy="6857640"/>
          </a:xfrm>
          <a:custGeom>
            <a:avLst/>
            <a:gdLst>
              <a:gd name="textAreaLeft" fmla="*/ 360 w 7187760"/>
              <a:gd name="textAreaRight" fmla="*/ 7188480 w 7187760"/>
              <a:gd name="textAreaTop" fmla="*/ -360 h 6857640"/>
              <a:gd name="textAreaBottom" fmla="*/ 6857640 h 6857640"/>
            </a:gdLst>
            <a:ahLst/>
            <a:rect l="textAreaLeft" t="textAreaTop" r="textAreaRight" b="textAreaBottom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nl-NL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" name="Tijdelijke aanduiding voor inhoud 4" descr=""/>
          <p:cNvPicPr/>
          <p:nvPr/>
        </p:nvPicPr>
        <p:blipFill>
          <a:blip r:embed="rId1"/>
          <a:srcRect l="0" t="423" r="0" b="2002"/>
          <a:stretch/>
        </p:blipFill>
        <p:spPr>
          <a:xfrm>
            <a:off x="0" y="0"/>
            <a:ext cx="702828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91040" y="1233000"/>
            <a:ext cx="10462320" cy="57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</a:pPr>
            <a:r>
              <a:rPr b="0" lang="nl-NL" sz="2600" spc="-60" strike="noStrike">
                <a:solidFill>
                  <a:srgbClr val="2494c5"/>
                </a:solidFill>
                <a:latin typeface="Verdana"/>
                <a:ea typeface="Verdana"/>
              </a:rPr>
              <a:t>Nu jullie</a:t>
            </a:r>
            <a:endParaRPr b="0" lang="nl-NL" sz="2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76280" y="1798560"/>
            <a:ext cx="10477080" cy="427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nl-NL" sz="2800" spc="-1" strike="noStrike">
                <a:solidFill>
                  <a:srgbClr val="000000"/>
                </a:solidFill>
                <a:latin typeface="Calibri"/>
              </a:rPr>
              <a:t>Ga naar de week 5 map en doe de opdracht(en)</a:t>
            </a:r>
            <a:endParaRPr b="0" lang="nl-NL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Inhoud bullet">
  <a:themeElements>
    <a:clrScheme name="">
      <a:dk1>
        <a:srgbClr val="000000"/>
      </a:dk1>
      <a:lt1>
        <a:srgbClr val="ffffff"/>
      </a:lt1>
      <a:dk2>
        <a:srgbClr val="046f96"/>
      </a:dk2>
      <a:lt2>
        <a:srgbClr val="eeece1"/>
      </a:lt2>
      <a:accent1>
        <a:srgbClr val="046f96"/>
      </a:accent1>
      <a:accent2>
        <a:srgbClr val="9accd4"/>
      </a:accent2>
      <a:accent3>
        <a:srgbClr val="ffffff"/>
      </a:accent3>
      <a:accent4>
        <a:srgbClr val="000000"/>
      </a:accent4>
      <a:accent5>
        <a:srgbClr val="aabbc9"/>
      </a:accent5>
      <a:accent6>
        <a:srgbClr val="8bb9c0"/>
      </a:accent6>
      <a:hlink>
        <a:srgbClr val="ed8fbb"/>
      </a:hlink>
      <a:folHlink>
        <a:srgbClr val="90007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Kantoorthe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911</TotalTime>
  <Application>LibreOffice/7.5.0.3$Linux_X86_64 LibreOffice_project/50$Build-3</Application>
  <AppVersion>15.0000</AppVersion>
  <Words>177</Words>
  <Paragraphs>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2023-01-02T09:12:37Z</dcterms:created>
  <dc:creator>List F van der, Fedde</dc:creator>
  <dc:description/>
  <dc:language>en-US</dc:language>
  <cp:lastModifiedBy/>
  <dcterms:modified xsi:type="dcterms:W3CDTF">2023-02-23T16:58:25Z</dcterms:modified>
  <cp:revision>32</cp:revision>
  <dc:subject/>
  <dc:title>PowerPoint-presentatie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Breedbeeld</vt:lpwstr>
  </property>
  <property fmtid="{D5CDD505-2E9C-101B-9397-08002B2CF9AE}" pid="4" name="Slides">
    <vt:i4>12</vt:i4>
  </property>
</Properties>
</file>