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19"/>
  </p:notesMasterIdLst>
  <p:sldIdLst>
    <p:sldId id="256" r:id="rId4"/>
    <p:sldId id="257" r:id="rId5"/>
    <p:sldId id="258" r:id="rId6"/>
    <p:sldId id="262" r:id="rId7"/>
    <p:sldId id="259" r:id="rId8"/>
    <p:sldId id="263" r:id="rId9"/>
    <p:sldId id="264" r:id="rId10"/>
    <p:sldId id="267" r:id="rId11"/>
    <p:sldId id="268" r:id="rId12"/>
    <p:sldId id="270" r:id="rId13"/>
    <p:sldId id="269" r:id="rId14"/>
    <p:sldId id="265" r:id="rId15"/>
    <p:sldId id="266" r:id="rId16"/>
    <p:sldId id="271" r:id="rId17"/>
    <p:sldId id="261" r:id="rId18"/>
  </p:sldIdLst>
  <p:sldSz cx="9144000" cy="6858000" type="screen4x3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9" autoAdjust="0"/>
    <p:restoredTop sz="94624" autoAdjust="0"/>
  </p:normalViewPr>
  <p:slideViewPr>
    <p:cSldViewPr>
      <p:cViewPr varScale="1">
        <p:scale>
          <a:sx n="108" d="100"/>
          <a:sy n="108" d="100"/>
        </p:scale>
        <p:origin x="170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11E579-9A39-400A-B08B-F1F73EEB66DF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75BF35-4B5E-4720-A483-898C01EB919C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32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3" name="Rectangle 3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NL" altLang="nl-NL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A224A06-FA55-4012-B5C0-6C70D8251C00}" type="slidenum">
              <a:rPr lang="nl-NL" smtClean="0"/>
              <a:pPr>
                <a:defRPr/>
              </a:pPr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95049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 om het opmaakprofiel van de modelondertitel te bewerken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36C07-7E76-46D3-B86B-6AF7C60E533E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96D49-DAE3-40DE-93E0-41688E0A5016}" type="slidenum">
              <a:rPr lang="nl-NL" smtClean="0"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36C07-7E76-46D3-B86B-6AF7C60E533E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96D49-DAE3-40DE-93E0-41688E0A5016}" type="slidenum">
              <a:rPr lang="nl-NL" smtClean="0"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36C07-7E76-46D3-B86B-6AF7C60E533E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96D49-DAE3-40DE-93E0-41688E0A5016}" type="slidenum">
              <a:rPr lang="nl-NL" smtClean="0"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36C07-7E76-46D3-B86B-6AF7C60E533E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96D49-DAE3-40DE-93E0-41688E0A5016}" type="slidenum">
              <a:rPr lang="nl-NL" smtClean="0"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6" name="Tijdelijke aanduiding voor inhoud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36C07-7E76-46D3-B86B-6AF7C60E533E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8" name="Tijdelijke aanduiding voor voetteks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96D49-DAE3-40DE-93E0-41688E0A5016}" type="slidenum">
              <a:rPr lang="nl-NL" smtClean="0"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36C07-7E76-46D3-B86B-6AF7C60E533E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96D49-DAE3-40DE-93E0-41688E0A5016}" type="slidenum">
              <a:rPr lang="nl-NL" smtClean="0"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36C07-7E76-46D3-B86B-6AF7C60E533E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96D49-DAE3-40DE-93E0-41688E0A5016}" type="slidenum">
              <a:rPr lang="nl-NL" smtClean="0"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36C07-7E76-46D3-B86B-6AF7C60E533E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96D49-DAE3-40DE-93E0-41688E0A5016}" type="slidenum">
              <a:rPr lang="nl-NL" smtClean="0"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36C07-7E76-46D3-B86B-6AF7C60E533E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96D49-DAE3-40DE-93E0-41688E0A5016}" type="slidenum">
              <a:rPr lang="nl-NL" smtClean="0"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36C07-7E76-46D3-B86B-6AF7C60E533E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96D49-DAE3-40DE-93E0-41688E0A5016}" type="slidenum">
              <a:rPr lang="nl-NL" smtClean="0"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636C07-7E76-46D3-B86B-6AF7C60E533E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096D49-DAE3-40DE-93E0-41688E0A5016}" type="slidenum">
              <a:rPr lang="nl-NL" smtClean="0"/>
              <a:t>‹nr.›</a:t>
            </a:fld>
            <a:endParaRPr lang="nl-NL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nl-NL"/>
              <a:t>Klik om de ondertitelstijl van het model te bewerken</a:t>
            </a:r>
          </a:p>
        </p:txBody>
      </p:sp>
      <p:sp>
        <p:nvSpPr>
          <p:cNvPr id="4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34485931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3644838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32988030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/>
          </p:nvPr>
        </p:nvSpPr>
        <p:spPr>
          <a:xfrm>
            <a:off x="4943475" y="3155950"/>
            <a:ext cx="1666875" cy="30591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6762750" y="3155950"/>
            <a:ext cx="1668463" cy="305911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1114672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6" name="Tijdelijke aanduiding voor inhoud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39011972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346424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29209804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5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23727853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nl-NL" noProof="0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5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2660510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33495973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/>
          <p:cNvSpPr>
            <a:spLocks noGrp="1"/>
          </p:cNvSpPr>
          <p:nvPr>
            <p:ph type="title" orient="vert"/>
          </p:nvPr>
        </p:nvSpPr>
        <p:spPr>
          <a:xfrm>
            <a:off x="7556500" y="2500313"/>
            <a:ext cx="874713" cy="3714750"/>
          </a:xfrm>
        </p:spPr>
        <p:txBody>
          <a:bodyPr vert="eaVert"/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>
          <a:xfrm>
            <a:off x="4929188" y="2500313"/>
            <a:ext cx="2474912" cy="3714750"/>
          </a:xfrm>
        </p:spPr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shpDatum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259815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orbla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6" descr="Foto_1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57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shpKleurvlak"/>
          <p:cNvSpPr>
            <a:spLocks noChangeArrowheads="1"/>
          </p:cNvSpPr>
          <p:nvPr userDrawn="1"/>
        </p:nvSpPr>
        <p:spPr bwMode="auto">
          <a:xfrm>
            <a:off x="4572000" y="0"/>
            <a:ext cx="4572000" cy="6858000"/>
          </a:xfrm>
          <a:prstGeom prst="rect">
            <a:avLst/>
          </a:prstGeom>
          <a:solidFill>
            <a:srgbClr val="046F9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1pPr>
            <a:lvl2pPr marL="742950" indent="-28575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2pPr>
            <a:lvl3pPr marL="11430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3pPr>
            <a:lvl4pPr marL="16002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4pPr>
            <a:lvl5pPr marL="20574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nl-NL" altLang="nl-NL" sz="1800">
              <a:solidFill>
                <a:srgbClr val="FFFFFF"/>
              </a:solidFill>
            </a:endParaRPr>
          </a:p>
        </p:txBody>
      </p:sp>
      <p:pic>
        <p:nvPicPr>
          <p:cNvPr id="4" name="Picture 14" descr="Logo_Powerpoint_diap_nl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2001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1802449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 met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3" descr="JongenLaptop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581525" cy="686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hpKleurvlak"/>
          <p:cNvSpPr>
            <a:spLocks noChangeArrowheads="1"/>
          </p:cNvSpPr>
          <p:nvPr userDrawn="1"/>
        </p:nvSpPr>
        <p:spPr bwMode="auto">
          <a:xfrm>
            <a:off x="4572000" y="0"/>
            <a:ext cx="4572000" cy="6858000"/>
          </a:xfrm>
          <a:prstGeom prst="rect">
            <a:avLst/>
          </a:prstGeom>
          <a:solidFill>
            <a:srgbClr val="046F9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1pPr>
            <a:lvl2pPr marL="742950" indent="-28575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2pPr>
            <a:lvl3pPr marL="11430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3pPr>
            <a:lvl4pPr marL="16002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4pPr>
            <a:lvl5pPr marL="20574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nl-NL" altLang="nl-NL" sz="1800"/>
          </a:p>
        </p:txBody>
      </p:sp>
      <p:pic>
        <p:nvPicPr>
          <p:cNvPr id="6" name="Picture 12" descr="Logo_Powerpoint_diap_nl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2001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4924428" y="2474907"/>
            <a:ext cx="3600476" cy="941393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tabLst/>
              <a:defRPr sz="260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4908552" y="3513150"/>
            <a:ext cx="3643338" cy="17526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tabLst/>
              <a:defRPr sz="180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 om het opmaakprofiel van de modelondertitel te bewerken</a:t>
            </a:r>
            <a:endParaRPr lang="nl-NL" dirty="0"/>
          </a:p>
        </p:txBody>
      </p:sp>
      <p:sp>
        <p:nvSpPr>
          <p:cNvPr id="7" name="shpDatum"/>
          <p:cNvSpPr>
            <a:spLocks noGrp="1" noChangeArrowheads="1"/>
          </p:cNvSpPr>
          <p:nvPr>
            <p:ph type="dt" sz="half" idx="10"/>
          </p:nvPr>
        </p:nvSpPr>
        <p:spPr>
          <a:xfrm>
            <a:off x="4929188" y="6380163"/>
            <a:ext cx="3714750" cy="363537"/>
          </a:xfr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414947565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inhoudsopgave lett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2" descr="perron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581525" cy="686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hpKleurvlak"/>
          <p:cNvSpPr>
            <a:spLocks noChangeArrowheads="1"/>
          </p:cNvSpPr>
          <p:nvPr userDrawn="1"/>
        </p:nvSpPr>
        <p:spPr bwMode="auto">
          <a:xfrm>
            <a:off x="4572000" y="0"/>
            <a:ext cx="4572000" cy="6858000"/>
          </a:xfrm>
          <a:prstGeom prst="rect">
            <a:avLst/>
          </a:prstGeom>
          <a:solidFill>
            <a:srgbClr val="046F9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1pPr>
            <a:lvl2pPr marL="742950" indent="-28575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2pPr>
            <a:lvl3pPr marL="11430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3pPr>
            <a:lvl4pPr marL="16002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4pPr>
            <a:lvl5pPr marL="20574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nl-NL" altLang="nl-NL" sz="1800"/>
          </a:p>
        </p:txBody>
      </p:sp>
      <p:pic>
        <p:nvPicPr>
          <p:cNvPr id="6" name="Picture 11" descr="Logo_Powerpoint_diap_nl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2001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ijdelijke aanduiding voor tekst 8"/>
          <p:cNvSpPr>
            <a:spLocks noGrp="1"/>
          </p:cNvSpPr>
          <p:nvPr>
            <p:ph type="body" sz="quarter" idx="12"/>
          </p:nvPr>
        </p:nvSpPr>
        <p:spPr>
          <a:xfrm>
            <a:off x="4929211" y="2500307"/>
            <a:ext cx="3500441" cy="571504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2600">
                <a:solidFill>
                  <a:schemeClr val="bg1"/>
                </a:solidFill>
              </a:defRPr>
            </a:lvl1pPr>
            <a:lvl2pPr>
              <a:buFontTx/>
              <a:buNone/>
              <a:defRPr/>
            </a:lvl2pPr>
            <a:lvl3pPr>
              <a:buFontTx/>
              <a:buNone/>
              <a:defRPr/>
            </a:lvl3pPr>
            <a:lvl4pPr>
              <a:buFontTx/>
              <a:buNone/>
              <a:defRPr/>
            </a:lvl4pPr>
            <a:lvl5pPr>
              <a:buFontTx/>
              <a:buNone/>
              <a:defRPr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14" name="Tijdelijke aanduiding voor tekst 13"/>
          <p:cNvSpPr>
            <a:spLocks noGrp="1"/>
          </p:cNvSpPr>
          <p:nvPr>
            <p:ph type="body" sz="quarter" idx="13"/>
          </p:nvPr>
        </p:nvSpPr>
        <p:spPr>
          <a:xfrm>
            <a:off x="4943045" y="3157103"/>
            <a:ext cx="3486607" cy="3057979"/>
          </a:xfrm>
          <a:prstGeom prst="rect">
            <a:avLst/>
          </a:prstGeom>
        </p:spPr>
        <p:txBody>
          <a:bodyPr/>
          <a:lstStyle>
            <a:lvl1pPr marL="234950" indent="-234950">
              <a:buFont typeface="+mj-lt"/>
              <a:buAutoNum type="alphaLcPeriod"/>
              <a:defRPr sz="18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7" name="shpDatum"/>
          <p:cNvSpPr>
            <a:spLocks noGrp="1" noChangeArrowheads="1"/>
          </p:cNvSpPr>
          <p:nvPr>
            <p:ph type="dt" sz="half" idx="14"/>
          </p:nvPr>
        </p:nvSpPr>
        <p:spPr>
          <a:xfrm>
            <a:off x="4929188" y="6380163"/>
            <a:ext cx="3714750" cy="363537"/>
          </a:xfr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260465213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1 tekstbl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pKleurvlakOnder"/>
          <p:cNvSpPr>
            <a:spLocks noChangeArrowheads="1"/>
          </p:cNvSpPr>
          <p:nvPr userDrawn="1"/>
        </p:nvSpPr>
        <p:spPr bwMode="auto">
          <a:xfrm>
            <a:off x="0" y="6318250"/>
            <a:ext cx="9144000" cy="539750"/>
          </a:xfrm>
          <a:prstGeom prst="rect">
            <a:avLst/>
          </a:prstGeom>
          <a:solidFill>
            <a:srgbClr val="046F9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1pPr>
            <a:lvl2pPr marL="742950" indent="-28575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2pPr>
            <a:lvl3pPr marL="11430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3pPr>
            <a:lvl4pPr marL="16002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4pPr>
            <a:lvl5pPr marL="20574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nl-NL" altLang="nl-NL" sz="1800">
              <a:solidFill>
                <a:srgbClr val="FFFFFF"/>
              </a:solidFill>
            </a:endParaRPr>
          </a:p>
        </p:txBody>
      </p:sp>
      <p:sp>
        <p:nvSpPr>
          <p:cNvPr id="5" name="shpTekst"/>
          <p:cNvSpPr>
            <a:spLocks noChangeArrowheads="1"/>
          </p:cNvSpPr>
          <p:nvPr userDrawn="1"/>
        </p:nvSpPr>
        <p:spPr bwMode="auto">
          <a:xfrm>
            <a:off x="0" y="0"/>
            <a:ext cx="9144000" cy="1071563"/>
          </a:xfrm>
          <a:prstGeom prst="rect">
            <a:avLst/>
          </a:prstGeom>
          <a:solidFill>
            <a:srgbClr val="046F9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1pPr>
            <a:lvl2pPr marL="742950" indent="-28575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2pPr>
            <a:lvl3pPr marL="11430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3pPr>
            <a:lvl4pPr marL="16002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4pPr>
            <a:lvl5pPr marL="20574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nl-NL" altLang="nl-NL" sz="1800">
              <a:solidFill>
                <a:srgbClr val="FFFFFF"/>
              </a:solidFill>
            </a:endParaRPr>
          </a:p>
        </p:txBody>
      </p:sp>
      <p:pic>
        <p:nvPicPr>
          <p:cNvPr id="6" name="shpDatum" descr="RO__vervolgpagina~LPPT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85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68300" y="1233039"/>
            <a:ext cx="7847038" cy="571504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2600" spc="-60" baseline="0">
                <a:solidFill>
                  <a:srgbClr val="2494C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/>
              <a:t>Klik om de stijl te bewerken</a:t>
            </a:r>
            <a:endParaRPr lang="nl-NL" dirty="0"/>
          </a:p>
        </p:txBody>
      </p:sp>
      <p:sp>
        <p:nvSpPr>
          <p:cNvPr id="13" name="Tijdelijke aanduiding voor inhoud 2"/>
          <p:cNvSpPr>
            <a:spLocks noGrp="1"/>
          </p:cNvSpPr>
          <p:nvPr>
            <p:ph idx="1"/>
          </p:nvPr>
        </p:nvSpPr>
        <p:spPr>
          <a:xfrm>
            <a:off x="369858" y="1798626"/>
            <a:ext cx="7858180" cy="427358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179388" indent="-179388">
              <a:buFont typeface="Arial" pitchFamily="34" charset="0"/>
              <a:buChar char="•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396000" indent="-252000">
              <a:buFontTx/>
              <a:buBlip>
                <a:blip r:embed="rId3"/>
              </a:buBlip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539750" indent="-144000">
              <a:buSzPct val="100000"/>
              <a:buFontTx/>
              <a:buBlip>
                <a:blip r:embed="rId4"/>
              </a:buBlip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</p:txBody>
      </p:sp>
      <p:sp>
        <p:nvSpPr>
          <p:cNvPr id="7" name="shpTitel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 altLang="nl-NL"/>
              <a:t>Afdelingsoverleg Projectmanagement 16-02-2016</a:t>
            </a:r>
          </a:p>
        </p:txBody>
      </p:sp>
      <p:sp>
        <p:nvSpPr>
          <p:cNvPr id="8" name="shpKleurvlakBoven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nl-NL" altLang="nl-NL"/>
          </a:p>
        </p:txBody>
      </p:sp>
      <p:sp>
        <p:nvSpPr>
          <p:cNvPr id="9" name="shpBeeldmerk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A4F0AE-21D7-4A6C-ABCA-006413C10275}" type="slidenum">
              <a:rPr lang="nl-NL"/>
              <a:pPr>
                <a:defRPr/>
              </a:pPr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46429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17" Type="http://schemas.openxmlformats.org/officeDocument/2006/relationships/image" Target="../media/image5.png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25.xml"/><Relationship Id="rId7" Type="http://schemas.openxmlformats.org/officeDocument/2006/relationships/image" Target="../media/image4.png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3.png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de stijl te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636C07-7E76-46D3-B86B-6AF7C60E533E}" type="datetimeFigureOut">
              <a:rPr lang="nl-NL" smtClean="0"/>
              <a:t>16-12-2022</a:t>
            </a:fld>
            <a:endParaRPr lang="nl-NL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096D49-DAE3-40DE-93E0-41688E0A5016}" type="slidenum">
              <a:rPr lang="nl-NL" smtClean="0"/>
              <a:t>‹nr.›</a:t>
            </a:fld>
            <a:endParaRPr lang="nl-N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shpKleurvlak"/>
          <p:cNvSpPr>
            <a:spLocks noChangeArrowheads="1"/>
          </p:cNvSpPr>
          <p:nvPr userDrawn="1"/>
        </p:nvSpPr>
        <p:spPr bwMode="auto">
          <a:xfrm>
            <a:off x="4572000" y="0"/>
            <a:ext cx="4572000" cy="6858000"/>
          </a:xfrm>
          <a:prstGeom prst="rect">
            <a:avLst/>
          </a:prstGeom>
          <a:solidFill>
            <a:srgbClr val="046F9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1pPr>
            <a:lvl2pPr marL="742950" indent="-28575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2pPr>
            <a:lvl3pPr marL="11430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3pPr>
            <a:lvl4pPr marL="16002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4pPr>
            <a:lvl5pPr marL="2057400" indent="-228600"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000000"/>
                </a:solidFill>
                <a:latin typeface="Verdana" pitchFamily="34" charset="0"/>
                <a:cs typeface="Arial" charset="0"/>
              </a:defRPr>
            </a:lvl9pPr>
          </a:lstStyle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nl-NL" altLang="nl-NL" sz="1800">
              <a:solidFill>
                <a:srgbClr val="FFFFFF"/>
              </a:solidFill>
            </a:endParaRPr>
          </a:p>
        </p:txBody>
      </p:sp>
      <p:sp>
        <p:nvSpPr>
          <p:cNvPr id="181253" name="shpDatum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929188" y="6380163"/>
            <a:ext cx="3714750" cy="363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nl-NL" altLang="nl-NL">
                <a:cs typeface="Arial" charset="0"/>
              </a:rPr>
              <a:t>Afdelingsoverleg Projectmanagement 16-02-2016</a:t>
            </a:r>
          </a:p>
        </p:txBody>
      </p:sp>
      <p:sp>
        <p:nvSpPr>
          <p:cNvPr id="3076" name="shpTitel"/>
          <p:cNvSpPr>
            <a:spLocks noGrp="1" noChangeArrowheads="1"/>
          </p:cNvSpPr>
          <p:nvPr>
            <p:ph type="title"/>
          </p:nvPr>
        </p:nvSpPr>
        <p:spPr bwMode="auto">
          <a:xfrm>
            <a:off x="4929188" y="2500313"/>
            <a:ext cx="3502025" cy="571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nl-NL"/>
              <a:t>Klik om het opmaakprofiel te bewerken</a:t>
            </a:r>
          </a:p>
        </p:txBody>
      </p:sp>
      <p:sp>
        <p:nvSpPr>
          <p:cNvPr id="3077" name="shpTekst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43475" y="3155950"/>
            <a:ext cx="3487738" cy="305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nl-NL"/>
              <a:t>Klik om de opmaakprofielen van de modeltekst te bewerken</a:t>
            </a:r>
          </a:p>
        </p:txBody>
      </p:sp>
      <p:pic>
        <p:nvPicPr>
          <p:cNvPr id="3078" name="Picture 11" descr="DUO pand 5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57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9" name="Picture 8" descr="Logo_Powerpoint_diap_nl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2001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3085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FFFFFF"/>
          </a:solidFill>
          <a:latin typeface="Verdana" pitchFamily="34" charset="0"/>
        </a:defRPr>
      </a:lvl9pPr>
    </p:titleStyle>
    <p:bodyStyle>
      <a:lvl1pPr marL="241300" indent="-241300" algn="l" rtl="0" eaLnBrk="0" fontAlgn="base" hangingPunct="0">
        <a:spcBef>
          <a:spcPct val="0"/>
        </a:spcBef>
        <a:spcAft>
          <a:spcPct val="0"/>
        </a:spcAft>
        <a:buSzPct val="80000"/>
        <a:buChar char="•"/>
        <a:defRPr>
          <a:solidFill>
            <a:srgbClr val="FFFFFF"/>
          </a:solidFill>
          <a:latin typeface="+mn-lt"/>
          <a:ea typeface="+mn-ea"/>
          <a:cs typeface="+mn-cs"/>
        </a:defRPr>
      </a:lvl1pPr>
      <a:lvl2pPr marL="8001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Blip>
          <a:blip r:embed="rId15"/>
        </a:buBlip>
        <a:defRPr>
          <a:solidFill>
            <a:srgbClr val="FFFFFF"/>
          </a:solidFill>
          <a:latin typeface="+mn-lt"/>
        </a:defRPr>
      </a:lvl2pPr>
      <a:lvl3pPr marL="12573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Blip>
          <a:blip r:embed="rId16"/>
        </a:buBlip>
        <a:defRPr>
          <a:solidFill>
            <a:srgbClr val="FFFFFF"/>
          </a:solidFill>
          <a:latin typeface="+mn-lt"/>
        </a:defRPr>
      </a:lvl3pPr>
      <a:lvl4pPr marL="17145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Blip>
          <a:blip r:embed="rId17"/>
        </a:buBlip>
        <a:defRPr>
          <a:solidFill>
            <a:srgbClr val="FFFFFF"/>
          </a:solidFill>
          <a:latin typeface="+mn-lt"/>
        </a:defRPr>
      </a:lvl4pPr>
      <a:lvl5pPr marL="21717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>
          <a:solidFill>
            <a:srgbClr val="FFFFFF"/>
          </a:solidFill>
          <a:latin typeface="+mn-lt"/>
        </a:defRPr>
      </a:lvl5pPr>
      <a:lvl6pPr marL="2628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>
          <a:solidFill>
            <a:srgbClr val="FFFFFF"/>
          </a:solidFill>
          <a:latin typeface="+mn-lt"/>
        </a:defRPr>
      </a:lvl6pPr>
      <a:lvl7pPr marL="30861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>
          <a:solidFill>
            <a:srgbClr val="FFFFFF"/>
          </a:solidFill>
          <a:latin typeface="+mn-lt"/>
        </a:defRPr>
      </a:lvl7pPr>
      <a:lvl8pPr marL="35433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>
          <a:solidFill>
            <a:srgbClr val="FFFFFF"/>
          </a:solidFill>
          <a:latin typeface="+mn-lt"/>
        </a:defRPr>
      </a:lvl8pPr>
      <a:lvl9pPr marL="40005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>
          <a:solidFill>
            <a:srgbClr val="FFFFFF"/>
          </a:solidFill>
          <a:latin typeface="+mn-lt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shpVoettekst"/>
          <p:cNvSpPr>
            <a:spLocks noGrp="1" noChangeArrowheads="1"/>
          </p:cNvSpPr>
          <p:nvPr>
            <p:ph type="title"/>
          </p:nvPr>
        </p:nvSpPr>
        <p:spPr bwMode="auto">
          <a:xfrm>
            <a:off x="366713" y="1233488"/>
            <a:ext cx="8169275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nl-NL"/>
              <a:t>Klik om het opmaakprofiel te bewerken</a:t>
            </a:r>
          </a:p>
        </p:txBody>
      </p:sp>
      <p:sp>
        <p:nvSpPr>
          <p:cNvPr id="4099" name="shpPagina"/>
          <p:cNvSpPr>
            <a:spLocks noGrp="1" noChangeArrowheads="1"/>
          </p:cNvSpPr>
          <p:nvPr>
            <p:ph type="body" idx="1"/>
          </p:nvPr>
        </p:nvSpPr>
        <p:spPr bwMode="auto">
          <a:xfrm>
            <a:off x="366713" y="1798638"/>
            <a:ext cx="8169275" cy="435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nl-NL"/>
              <a:t>Klik om de opmaakprofielen van de modeltekst te bewerken</a:t>
            </a:r>
          </a:p>
          <a:p>
            <a:pPr lvl="1"/>
            <a:r>
              <a:rPr lang="nl-NL" altLang="nl-NL"/>
              <a:t>Tweede niveau</a:t>
            </a:r>
          </a:p>
          <a:p>
            <a:pPr lvl="2"/>
            <a:r>
              <a:rPr lang="nl-NL" altLang="nl-NL"/>
              <a:t>Derde niveau</a:t>
            </a:r>
          </a:p>
          <a:p>
            <a:pPr lvl="3"/>
            <a:r>
              <a:rPr lang="nl-NL" altLang="nl-NL"/>
              <a:t>Vierde niveau</a:t>
            </a:r>
          </a:p>
        </p:txBody>
      </p:sp>
      <p:sp>
        <p:nvSpPr>
          <p:cNvPr id="11" name="shpTitel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483100" y="6538913"/>
            <a:ext cx="4156075" cy="315912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nl-NL" altLang="nl-NL">
                <a:latin typeface="Verdana" pitchFamily="34" charset="0"/>
                <a:cs typeface="Arial" charset="0"/>
              </a:rPr>
              <a:t>Afdelingsoverleg Projectmanagement 16-02-2016</a:t>
            </a:r>
          </a:p>
        </p:txBody>
      </p:sp>
      <p:sp>
        <p:nvSpPr>
          <p:cNvPr id="12" name="shpKleurvlakBoven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476750" y="6369050"/>
            <a:ext cx="4164013" cy="284163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nl-NL" altLang="nl-NL">
              <a:latin typeface="Verdana" pitchFamily="34" charset="0"/>
              <a:cs typeface="Arial" charset="0"/>
            </a:endParaRPr>
          </a:p>
        </p:txBody>
      </p:sp>
      <p:sp>
        <p:nvSpPr>
          <p:cNvPr id="13" name="shpBeeldmerk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87350" y="6362700"/>
            <a:ext cx="712788" cy="363538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FDABD456-CC95-4B3E-A9EF-A455EB01A5C5}" type="slidenum">
              <a:rPr lang="nl-NL">
                <a:latin typeface="Verdana" pitchFamily="34" charset="0"/>
                <a:cs typeface="Arial" charset="0"/>
              </a:rPr>
              <a:pPr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‹nr.›</a:t>
            </a:fld>
            <a:endParaRPr lang="nl-NL">
              <a:latin typeface="Verdana" pitchFamily="34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824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sldNum="0" hdr="0" ft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kern="1200">
          <a:solidFill>
            <a:srgbClr val="CC003D"/>
          </a:solidFill>
          <a:latin typeface="Arial" charset="0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CC003D"/>
          </a:solidFill>
          <a:latin typeface="Arial" charset="0"/>
          <a:ea typeface="Verdana" pitchFamily="34" charset="0"/>
          <a:cs typeface="Verdan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CC003D"/>
          </a:solidFill>
          <a:latin typeface="Arial" charset="0"/>
          <a:ea typeface="Verdana" pitchFamily="34" charset="0"/>
          <a:cs typeface="Verdan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CC003D"/>
          </a:solidFill>
          <a:latin typeface="Arial" charset="0"/>
          <a:ea typeface="Verdana" pitchFamily="34" charset="0"/>
          <a:cs typeface="Verdan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>
          <a:solidFill>
            <a:srgbClr val="CC003D"/>
          </a:solidFill>
          <a:latin typeface="Arial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>
          <a:solidFill>
            <a:schemeClr val="tx1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kern="1200">
          <a:solidFill>
            <a:srgbClr val="000000"/>
          </a:solidFill>
          <a:latin typeface="Arial" charset="0"/>
          <a:ea typeface="+mn-ea"/>
          <a:cs typeface="+mn-cs"/>
        </a:defRPr>
      </a:lvl1pPr>
      <a:lvl2pPr marL="152400" indent="-150813" algn="l" rtl="0" eaLnBrk="0" fontAlgn="base" hangingPunct="0">
        <a:spcBef>
          <a:spcPct val="20000"/>
        </a:spcBef>
        <a:spcAft>
          <a:spcPct val="0"/>
        </a:spcAft>
        <a:buFont typeface="Arial" charset="0"/>
        <a:buBlip>
          <a:blip r:embed="rId6"/>
        </a:buBlip>
        <a:defRPr kern="1200">
          <a:solidFill>
            <a:srgbClr val="000000"/>
          </a:solidFill>
          <a:latin typeface="Arial" charset="0"/>
          <a:ea typeface="+mn-ea"/>
          <a:cs typeface="+mn-cs"/>
        </a:defRPr>
      </a:lvl2pPr>
      <a:lvl3pPr marL="406400" indent="-252413" algn="l" rtl="0" eaLnBrk="0" fontAlgn="base" hangingPunct="0">
        <a:spcBef>
          <a:spcPct val="20000"/>
        </a:spcBef>
        <a:spcAft>
          <a:spcPct val="0"/>
        </a:spcAft>
        <a:buFont typeface="Arial" charset="0"/>
        <a:buBlip>
          <a:blip r:embed="rId7"/>
        </a:buBlip>
        <a:defRPr kern="1200">
          <a:solidFill>
            <a:srgbClr val="000000"/>
          </a:solidFill>
          <a:latin typeface="Arial" charset="0"/>
          <a:ea typeface="+mn-ea"/>
          <a:cs typeface="+mn-cs"/>
        </a:defRPr>
      </a:lvl3pPr>
      <a:lvl4pPr marL="633413" indent="-225425" algn="l" rtl="0" eaLnBrk="0" fontAlgn="base" hangingPunct="0">
        <a:spcBef>
          <a:spcPct val="20000"/>
        </a:spcBef>
        <a:spcAft>
          <a:spcPct val="0"/>
        </a:spcAft>
        <a:buFont typeface="Arial" charset="0"/>
        <a:buBlip>
          <a:blip r:embed="rId8"/>
        </a:buBlip>
        <a:defRPr kern="1200">
          <a:solidFill>
            <a:srgbClr val="000000"/>
          </a:solidFill>
          <a:latin typeface="Arial" charset="0"/>
          <a:ea typeface="+mn-ea"/>
          <a:cs typeface="+mn-cs"/>
        </a:defRPr>
      </a:lvl4pPr>
      <a:lvl5pPr marL="811213" indent="-176213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kern="1200">
          <a:solidFill>
            <a:schemeClr val="tx1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Grp="1" noChangeArrowheads="1"/>
          </p:cNvSpPr>
          <p:nvPr>
            <p:ph type="title"/>
          </p:nvPr>
        </p:nvSpPr>
        <p:spPr>
          <a:xfrm>
            <a:off x="4787900" y="2924175"/>
            <a:ext cx="4356100" cy="1296913"/>
          </a:xfrm>
        </p:spPr>
        <p:txBody>
          <a:bodyPr/>
          <a:lstStyle/>
          <a:p>
            <a:br>
              <a:rPr lang="nl-NL" altLang="nl-NL" sz="2200" dirty="0"/>
            </a:br>
            <a:br>
              <a:rPr lang="nl-NL" altLang="nl-NL" sz="2200" dirty="0"/>
            </a:br>
            <a:r>
              <a:rPr lang="nl-NL" altLang="nl-NL" sz="2200" dirty="0"/>
              <a:t>Werken bij DUO</a:t>
            </a:r>
            <a:br>
              <a:rPr lang="nl-NL" altLang="nl-NL" sz="2200" dirty="0"/>
            </a:br>
            <a:br>
              <a:rPr lang="nl-NL" altLang="nl-NL" sz="2200" dirty="0"/>
            </a:br>
            <a:br>
              <a:rPr lang="nl-NL" altLang="nl-NL" sz="1400" dirty="0"/>
            </a:br>
            <a:r>
              <a:rPr lang="nl-NL" altLang="nl-NL" sz="1400" dirty="0"/>
              <a:t>Door: Fedde van der List</a:t>
            </a:r>
          </a:p>
        </p:txBody>
      </p:sp>
    </p:spTree>
    <p:extLst>
      <p:ext uri="{BB962C8B-B14F-4D97-AF65-F5344CB8AC3E}">
        <p14:creationId xmlns:p14="http://schemas.microsoft.com/office/powerpoint/2010/main" val="245270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 onderwerpen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Introductie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Over duo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Wat doe ik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De workshops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Basis over testen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Inrichten werkomgeving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68563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Introductie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Wie ben ik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62795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doet duo?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369858" y="1798626"/>
            <a:ext cx="4994230" cy="4273580"/>
          </a:xfrm>
        </p:spPr>
        <p:txBody>
          <a:bodyPr>
            <a:normAutofit fontScale="92500" lnSpcReduction="10000"/>
          </a:bodyPr>
          <a:lstStyle/>
          <a:p>
            <a:pPr marL="342900" indent="-342900">
              <a:buAutoNum type="arabicPeriod"/>
            </a:pPr>
            <a:r>
              <a:rPr lang="nl-NL" dirty="0"/>
              <a:t>Studiefinanciering en tegemoetkomingen</a:t>
            </a:r>
            <a:br>
              <a:rPr lang="nl-NL" dirty="0"/>
            </a:br>
            <a:r>
              <a:rPr lang="nl-NL" dirty="0"/>
              <a:t>Innen lesgeld en studieschulden</a:t>
            </a:r>
          </a:p>
          <a:p>
            <a:pPr marL="342900" indent="-342900">
              <a:buFont typeface="Arial" charset="0"/>
              <a:buAutoNum type="arabicPeriod"/>
            </a:pPr>
            <a:r>
              <a:rPr lang="nl-NL" dirty="0"/>
              <a:t>Leningen en vergoedingen voor inburgeraars</a:t>
            </a:r>
          </a:p>
          <a:p>
            <a:pPr marL="342900" indent="-342900">
              <a:buAutoNum type="arabicPeriod"/>
            </a:pPr>
            <a:r>
              <a:rPr lang="nl-NL" dirty="0"/>
              <a:t>Onderwijsinstellingen</a:t>
            </a:r>
          </a:p>
          <a:p>
            <a:pPr marL="342900" indent="-342900">
              <a:buFont typeface="Arial" charset="0"/>
              <a:buAutoNum type="arabicPeriod"/>
            </a:pPr>
            <a:r>
              <a:rPr lang="nl-NL" dirty="0"/>
              <a:t>Staats- en inburgeringsexamens, centraal examen vo</a:t>
            </a:r>
          </a:p>
          <a:p>
            <a:pPr marL="342900" indent="-342900">
              <a:buFont typeface="Arial" charset="0"/>
              <a:buAutoNum type="arabicPeriod"/>
            </a:pPr>
            <a:r>
              <a:rPr lang="nl-NL" dirty="0"/>
              <a:t>Regie proces WFT-examen</a:t>
            </a:r>
          </a:p>
          <a:p>
            <a:pPr marL="342900" indent="-342900">
              <a:buFont typeface="Arial" charset="0"/>
              <a:buAutoNum type="arabicPeriod"/>
            </a:pPr>
            <a:r>
              <a:rPr lang="nl-NL" dirty="0"/>
              <a:t>Verzamelen en beheren van onderwijsgegevens in registers</a:t>
            </a:r>
          </a:p>
          <a:p>
            <a:pPr marL="342900" indent="-342900">
              <a:buFont typeface="Arial" charset="0"/>
              <a:buAutoNum type="arabicPeriod"/>
            </a:pPr>
            <a:r>
              <a:rPr lang="nl-NL" dirty="0"/>
              <a:t>Verrijken van onderwijsgegevens tot informatieproducten</a:t>
            </a:r>
          </a:p>
          <a:p>
            <a:pPr marL="342900" indent="-342900">
              <a:buFont typeface="Arial" charset="0"/>
              <a:buAutoNum type="arabicPeriod"/>
            </a:pPr>
            <a:r>
              <a:rPr lang="nl-NL" dirty="0"/>
              <a:t>Erkennen van diploma’s, Beheer Diplomaregister, Nationaal Europass Centrum in Nederland </a:t>
            </a:r>
          </a:p>
          <a:p>
            <a:endParaRPr lang="nl-NL" dirty="0"/>
          </a:p>
          <a:p>
            <a:endParaRPr lang="nl-NL" dirty="0"/>
          </a:p>
        </p:txBody>
      </p:sp>
      <p:pic>
        <p:nvPicPr>
          <p:cNvPr id="1026" name="Picture 2" descr="\\fileserver\homedrivesw7\in653lis\Pictures\captures\2020-10-19 08_53_19-Corporate_DUO_2019_def2.pptx - Microsoft PowerPoint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080" y="2060848"/>
            <a:ext cx="3742844" cy="4104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0742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Wat kun je allemaal bij DUO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nl-NL" dirty="0"/>
          </a:p>
        </p:txBody>
      </p:sp>
      <p:pic>
        <p:nvPicPr>
          <p:cNvPr id="1026" name="Picture 2" descr="\\fileserver\homedrivesw7\in653lis\Downloads\kahoot\what-do-i-choose-too-many-options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5856" y="1988840"/>
            <a:ext cx="5267325" cy="396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53647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dirty="0"/>
              <a:t>Wat zijn mijn werkzaamheden?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nl-NL" dirty="0"/>
              <a:t>Facet </a:t>
            </a:r>
            <a:r>
              <a:rPr lang="nl-NL"/>
              <a:t>(examens)</a:t>
            </a:r>
            <a:endParaRPr lang="nl-NL" dirty="0"/>
          </a:p>
          <a:p>
            <a:pPr marL="285750" indent="-285750">
              <a:buFontTx/>
              <a:buChar char="-"/>
            </a:pPr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Software testen</a:t>
            </a:r>
          </a:p>
          <a:p>
            <a:pPr marL="285750" indent="-285750">
              <a:buFontTx/>
              <a:buChar char="-"/>
            </a:pPr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Security checks</a:t>
            </a:r>
          </a:p>
          <a:p>
            <a:pPr marL="285750" indent="-285750">
              <a:buFontTx/>
              <a:buChar char="-"/>
            </a:pPr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Digitale toegankelijkheid</a:t>
            </a:r>
          </a:p>
          <a:p>
            <a:pPr marL="285750" indent="-285750">
              <a:buFontTx/>
              <a:buChar char="-"/>
            </a:pPr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 err="1"/>
              <a:t>Competence</a:t>
            </a:r>
            <a:r>
              <a:rPr lang="nl-NL" dirty="0"/>
              <a:t> </a:t>
            </a:r>
            <a:r>
              <a:rPr lang="nl-NL" dirty="0" err="1"/>
              <a:t>group</a:t>
            </a:r>
            <a:r>
              <a:rPr lang="nl-NL" dirty="0"/>
              <a:t> security</a:t>
            </a:r>
          </a:p>
          <a:p>
            <a:r>
              <a:rPr lang="nl-NL" dirty="0"/>
              <a:t> </a:t>
            </a:r>
          </a:p>
          <a:p>
            <a:pPr marL="285750" indent="-285750">
              <a:buFontTx/>
              <a:buChar char="-"/>
            </a:pPr>
            <a:endParaRPr lang="nl-NL" dirty="0"/>
          </a:p>
          <a:p>
            <a:pPr marL="285750" indent="-285750">
              <a:buFontTx/>
              <a:buChar char="-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62893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 mogelijkheden voor jullie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Tx/>
              <a:buChar char="-"/>
            </a:pPr>
            <a:r>
              <a:rPr lang="nl-NL" dirty="0"/>
              <a:t>Stage</a:t>
            </a:r>
          </a:p>
          <a:p>
            <a:pPr marL="285750" indent="-285750">
              <a:buFontTx/>
              <a:buChar char="-"/>
            </a:pPr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Werken bij duo</a:t>
            </a:r>
          </a:p>
          <a:p>
            <a:pPr marL="285750" indent="-285750">
              <a:buFontTx/>
              <a:buChar char="-"/>
            </a:pPr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Opleidingsmogelijkheden</a:t>
            </a:r>
          </a:p>
        </p:txBody>
      </p:sp>
    </p:spTree>
    <p:extLst>
      <p:ext uri="{BB962C8B-B14F-4D97-AF65-F5344CB8AC3E}">
        <p14:creationId xmlns:p14="http://schemas.microsoft.com/office/powerpoint/2010/main" val="18284368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7E2589-6E49-4273-9611-7BCDC1D10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inhoud</a:t>
            </a:r>
            <a:r>
              <a:rPr lang="en-US" dirty="0"/>
              <a:t> van </a:t>
            </a:r>
            <a:r>
              <a:rPr lang="en-US" dirty="0" err="1"/>
              <a:t>jullie</a:t>
            </a:r>
            <a:r>
              <a:rPr lang="en-US" dirty="0"/>
              <a:t> lessen</a:t>
            </a:r>
            <a:endParaRPr lang="nl-NL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9994237-EB46-4AEE-95DF-0C0D0798923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51520" y="2035009"/>
            <a:ext cx="6794430" cy="3431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nl-NL" altLang="nl-NL" sz="1400" b="0" i="0" u="sng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Workshop 1:</a:t>
            </a:r>
            <a:r>
              <a:rPr kumimoji="0" lang="nl-NL" altLang="nl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</a:t>
            </a:r>
            <a:r>
              <a:rPr kumimoji="0" lang="nl-NL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Introductie testen en voorbereiden voor praktijk opdrachtjes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nl-NL" altLang="nl-NL" sz="1400" b="0" i="1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Verdana" panose="020B060403050404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nl-NL" altLang="nl-NL" sz="1400" b="0" i="0" u="sng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Workshop 2:</a:t>
            </a:r>
            <a:r>
              <a:rPr kumimoji="0" lang="nl-NL" altLang="nl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</a:t>
            </a:r>
            <a:r>
              <a:rPr kumimoji="0" lang="nl-NL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Introductie unit </a:t>
            </a:r>
            <a:r>
              <a:rPr kumimoji="0" lang="nl-NL" altLang="nl-NL" sz="1400" b="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testing</a:t>
            </a:r>
            <a:r>
              <a:rPr kumimoji="0" lang="nl-NL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met praktijk voorbeelden en opdrachten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nl-NL" altLang="nl-NL" sz="1400" b="0" i="1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Verdana" panose="020B060403050404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nl-NL" sz="1400" b="0" i="0" u="sng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Workshop 3:</a:t>
            </a:r>
            <a:r>
              <a:rPr kumimoji="0" lang="en-US" altLang="nl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</a:t>
            </a:r>
            <a:r>
              <a:rPr kumimoji="0" lang="en-US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API testing, Postman </a:t>
            </a:r>
            <a:r>
              <a:rPr kumimoji="0" lang="en-US" altLang="nl-NL" sz="1400" b="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en</a:t>
            </a:r>
            <a:r>
              <a:rPr kumimoji="0" lang="en-US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feature files (intro test containers)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nl-NL" sz="1400" b="0" i="1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Verdana" panose="020B060403050404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nl-NL" sz="1400" b="0" i="0" u="sng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Workshop 4:</a:t>
            </a:r>
            <a:r>
              <a:rPr kumimoji="0" lang="en-US" altLang="nl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</a:t>
            </a:r>
            <a:r>
              <a:rPr kumimoji="0" lang="en-US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API </a:t>
            </a:r>
            <a:r>
              <a:rPr kumimoji="0" lang="en-US" altLang="nl-NL" sz="1400" b="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testen</a:t>
            </a:r>
            <a:r>
              <a:rPr kumimoji="0" lang="en-US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met Cucumber </a:t>
            </a:r>
            <a:r>
              <a:rPr kumimoji="0" lang="en-US" altLang="nl-NL" sz="1400" b="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en</a:t>
            </a:r>
            <a:r>
              <a:rPr kumimoji="0" lang="en-US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test containers</a:t>
            </a:r>
            <a:r>
              <a:rPr kumimoji="0" lang="en-US" altLang="nl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 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nl-NL" sz="14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Verdana" panose="020B060403050404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nl-NL" sz="1400" b="0" i="0" u="sng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Workshop 5:</a:t>
            </a:r>
            <a:r>
              <a:rPr kumimoji="0" lang="en-US" altLang="nl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</a:t>
            </a:r>
            <a:r>
              <a:rPr kumimoji="0" lang="en-US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Frontend </a:t>
            </a:r>
            <a:r>
              <a:rPr kumimoji="0" lang="en-US" altLang="nl-NL" sz="1400" b="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testen</a:t>
            </a:r>
            <a:r>
              <a:rPr kumimoji="0" lang="en-US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Cypress/Selenium/</a:t>
            </a:r>
            <a:r>
              <a:rPr kumimoji="0" lang="en-US" altLang="nl-NL" sz="1400" b="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Serentiy</a:t>
            </a:r>
            <a:r>
              <a:rPr kumimoji="0" lang="en-US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(JavaScript/Python/Java)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nl-NL" sz="1400" b="0" i="1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Verdana" panose="020B060403050404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nl-NL" sz="1400" b="0" i="0" u="sng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Workshop 6:</a:t>
            </a:r>
            <a:r>
              <a:rPr kumimoji="0" lang="en-US" altLang="nl-NL" sz="1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</a:t>
            </a:r>
            <a:r>
              <a:rPr kumimoji="0" lang="en-US" altLang="nl-NL" sz="1400" b="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Afronding</a:t>
            </a:r>
            <a:r>
              <a:rPr kumimoji="0" lang="en-US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(met </a:t>
            </a:r>
            <a:r>
              <a:rPr kumimoji="0" lang="en-US" altLang="nl-NL" sz="1400" b="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misschien</a:t>
            </a:r>
            <a:r>
              <a:rPr kumimoji="0" lang="en-US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‘Capture the flag’ </a:t>
            </a:r>
            <a:r>
              <a:rPr kumimoji="0" lang="en-US" altLang="nl-NL" sz="1400" b="0" i="1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uitdaging</a:t>
            </a:r>
            <a:r>
              <a:rPr kumimoji="0" lang="en-US" altLang="nl-NL" sz="1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)</a:t>
            </a:r>
            <a:r>
              <a:rPr kumimoji="0" lang="en-US" altLang="nl-NL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nl-NL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2566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802782-8984-4338-83B0-C821D45EF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Intro tot de test piramide</a:t>
            </a:r>
          </a:p>
        </p:txBody>
      </p:sp>
      <p:pic>
        <p:nvPicPr>
          <p:cNvPr id="9" name="Tijdelijke aanduiding voor inhoud 8">
            <a:extLst>
              <a:ext uri="{FF2B5EF4-FFF2-40B4-BE49-F238E27FC236}">
                <a16:creationId xmlns:a16="http://schemas.microsoft.com/office/drawing/2014/main" id="{419E8E24-EA6C-4786-B3B3-C81B616B51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1390" y="1798638"/>
            <a:ext cx="4835120" cy="4273550"/>
          </a:xfrm>
        </p:spPr>
      </p:pic>
    </p:spTree>
    <p:extLst>
      <p:ext uri="{BB962C8B-B14F-4D97-AF65-F5344CB8AC3E}">
        <p14:creationId xmlns:p14="http://schemas.microsoft.com/office/powerpoint/2010/main" val="1622339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AE8472-0265-403E-B3EA-ECC0DC47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Testen</a:t>
            </a:r>
            <a:r>
              <a:rPr lang="en-US" dirty="0"/>
              <a:t> is </a:t>
            </a:r>
            <a:r>
              <a:rPr lang="en-US" dirty="0" err="1"/>
              <a:t>een</a:t>
            </a:r>
            <a:r>
              <a:rPr lang="en-US" dirty="0"/>
              <a:t> mindset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2234AB9-9C7D-420E-AF1A-9D602BE9D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Denken</a:t>
            </a:r>
            <a:r>
              <a:rPr lang="en-US" dirty="0"/>
              <a:t> </a:t>
            </a:r>
            <a:r>
              <a:rPr lang="en-US" dirty="0" err="1"/>
              <a:t>vanuit</a:t>
            </a:r>
            <a:r>
              <a:rPr lang="en-US" dirty="0"/>
              <a:t> de </a:t>
            </a:r>
            <a:r>
              <a:rPr lang="en-US" dirty="0" err="1"/>
              <a:t>gebruiker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Denken</a:t>
            </a:r>
            <a:r>
              <a:rPr lang="en-US" dirty="0"/>
              <a:t> </a:t>
            </a:r>
            <a:r>
              <a:rPr lang="en-US" dirty="0" err="1"/>
              <a:t>vanuit</a:t>
            </a:r>
            <a:r>
              <a:rPr lang="en-US" dirty="0"/>
              <a:t> de </a:t>
            </a:r>
            <a:r>
              <a:rPr lang="en-US" dirty="0" err="1"/>
              <a:t>ontwikkelaar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Denken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hacker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F08FBF9-127B-4091-854D-9E490DA3D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nl-NL" altLang="nl-NL"/>
              <a:t>Afdelingsoverleg Projectmanagement 16-02-2016</a:t>
            </a:r>
          </a:p>
        </p:txBody>
      </p:sp>
    </p:spTree>
    <p:extLst>
      <p:ext uri="{BB962C8B-B14F-4D97-AF65-F5344CB8AC3E}">
        <p14:creationId xmlns:p14="http://schemas.microsoft.com/office/powerpoint/2010/main" val="37044521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07BB13-A4A8-4C70-841C-5D13D62D5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Verschillende</a:t>
            </a:r>
            <a:r>
              <a:rPr lang="en-US" dirty="0"/>
              <a:t> </a:t>
            </a:r>
            <a:r>
              <a:rPr lang="en-US" dirty="0" err="1"/>
              <a:t>certificeringen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BA0A271-9F4A-4A60-B3C1-9D11B5A53A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  <a:p>
            <a:r>
              <a:rPr lang="nl-NL" dirty="0"/>
              <a:t>    1. </a:t>
            </a:r>
            <a:r>
              <a:rPr lang="nl-NL" dirty="0" err="1"/>
              <a:t>Certified</a:t>
            </a:r>
            <a:r>
              <a:rPr lang="nl-NL" dirty="0"/>
              <a:t> </a:t>
            </a:r>
            <a:r>
              <a:rPr lang="nl-NL" dirty="0" err="1"/>
              <a:t>Associate</a:t>
            </a:r>
            <a:r>
              <a:rPr lang="nl-NL" dirty="0"/>
              <a:t> in Software </a:t>
            </a:r>
            <a:r>
              <a:rPr lang="nl-NL" dirty="0" err="1"/>
              <a:t>Testing</a:t>
            </a:r>
            <a:r>
              <a:rPr lang="nl-NL" dirty="0"/>
              <a:t> (CAST)</a:t>
            </a:r>
          </a:p>
          <a:p>
            <a:r>
              <a:rPr lang="nl-NL" dirty="0"/>
              <a:t>    2. </a:t>
            </a:r>
            <a:r>
              <a:rPr lang="nl-NL" dirty="0" err="1"/>
              <a:t>Certified</a:t>
            </a:r>
            <a:r>
              <a:rPr lang="nl-NL" dirty="0"/>
              <a:t> Software Tester (CSTE)</a:t>
            </a:r>
          </a:p>
          <a:p>
            <a:r>
              <a:rPr lang="nl-NL" dirty="0"/>
              <a:t>    3. </a:t>
            </a:r>
            <a:r>
              <a:rPr lang="nl-NL" dirty="0" err="1"/>
              <a:t>Certified</a:t>
            </a:r>
            <a:r>
              <a:rPr lang="nl-NL" dirty="0"/>
              <a:t> Manager of Software </a:t>
            </a:r>
            <a:r>
              <a:rPr lang="nl-NL" dirty="0" err="1"/>
              <a:t>Testing</a:t>
            </a:r>
            <a:r>
              <a:rPr lang="nl-NL" dirty="0"/>
              <a:t> (CMST)</a:t>
            </a:r>
          </a:p>
          <a:p>
            <a:r>
              <a:rPr lang="nl-NL" dirty="0"/>
              <a:t>    4. ISTQB Foundation Level (CTFL)</a:t>
            </a:r>
          </a:p>
          <a:p>
            <a:r>
              <a:rPr lang="nl-NL" dirty="0"/>
              <a:t>    5. ISTQB Agile Tester </a:t>
            </a:r>
            <a:r>
              <a:rPr lang="nl-NL" dirty="0" err="1"/>
              <a:t>Certification</a:t>
            </a:r>
            <a:endParaRPr lang="nl-NL" dirty="0"/>
          </a:p>
          <a:p>
            <a:r>
              <a:rPr lang="nl-NL" dirty="0"/>
              <a:t>    6. ISTQB Advanced Level Test </a:t>
            </a:r>
            <a:r>
              <a:rPr lang="nl-NL" dirty="0" err="1"/>
              <a:t>Analyst</a:t>
            </a:r>
            <a:endParaRPr lang="nl-NL" dirty="0"/>
          </a:p>
          <a:p>
            <a:r>
              <a:rPr lang="nl-NL" dirty="0"/>
              <a:t>    7. Advanced Level Security Tester</a:t>
            </a:r>
          </a:p>
          <a:p>
            <a:r>
              <a:rPr lang="nl-NL" dirty="0"/>
              <a:t>    8. Advanced Level Agile Technical Tester</a:t>
            </a:r>
          </a:p>
        </p:txBody>
      </p:sp>
    </p:spTree>
    <p:extLst>
      <p:ext uri="{BB962C8B-B14F-4D97-AF65-F5344CB8AC3E}">
        <p14:creationId xmlns:p14="http://schemas.microsoft.com/office/powerpoint/2010/main" val="842619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B6131-3932-4822-A822-2C199532B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Installeren</a:t>
            </a:r>
            <a:r>
              <a:rPr lang="en-US" dirty="0"/>
              <a:t> software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1222C9E-B110-4C7E-B71F-00A36AB22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IntelliJ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Postman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en-US" dirty="0" err="1"/>
              <a:t>optioneel</a:t>
            </a:r>
            <a:r>
              <a:rPr lang="en-US" dirty="0"/>
              <a:t>) Maven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935707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610FA9-CF1D-4704-95F0-3254DD5F8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Jira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7A23072-289C-49FA-A981-6B73AFD1A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Scrum/agile </a:t>
            </a:r>
            <a:r>
              <a:rPr lang="en-US" dirty="0" err="1"/>
              <a:t>werken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Devops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08130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BD1B56-B861-41E8-A274-9310B24EA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Monkey testing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20CC927-8129-4215-90E5-515F6AD03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Kijken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websites die </a:t>
            </a:r>
            <a:r>
              <a:rPr lang="en-US" dirty="0" err="1"/>
              <a:t>jullie</a:t>
            </a:r>
            <a:r>
              <a:rPr lang="en-US" dirty="0"/>
              <a:t> </a:t>
            </a:r>
            <a:r>
              <a:rPr lang="en-US" dirty="0" err="1"/>
              <a:t>veel</a:t>
            </a:r>
            <a:r>
              <a:rPr lang="en-US" dirty="0"/>
              <a:t> </a:t>
            </a:r>
            <a:r>
              <a:rPr lang="en-US"/>
              <a:t>gebruiken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767652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 en meer…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07810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Inhoud bullet">
  <a:themeElements>
    <a:clrScheme name="">
      <a:dk1>
        <a:srgbClr val="000000"/>
      </a:dk1>
      <a:lt1>
        <a:srgbClr val="FFFFFF"/>
      </a:lt1>
      <a:dk2>
        <a:srgbClr val="046F96"/>
      </a:dk2>
      <a:lt2>
        <a:srgbClr val="EEECE1"/>
      </a:lt2>
      <a:accent1>
        <a:srgbClr val="046F96"/>
      </a:accent1>
      <a:accent2>
        <a:srgbClr val="9ACCD4"/>
      </a:accent2>
      <a:accent3>
        <a:srgbClr val="FFFFFF"/>
      </a:accent3>
      <a:accent4>
        <a:srgbClr val="000000"/>
      </a:accent4>
      <a:accent5>
        <a:srgbClr val="AABBC9"/>
      </a:accent5>
      <a:accent6>
        <a:srgbClr val="8BB9C0"/>
      </a:accent6>
      <a:hlink>
        <a:srgbClr val="ED8FBB"/>
      </a:hlink>
      <a:folHlink>
        <a:srgbClr val="900079"/>
      </a:folHlink>
    </a:clrScheme>
    <a:fontScheme name="Inhoud bullet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Inhoud bullet 1">
        <a:dk1>
          <a:srgbClr val="000000"/>
        </a:dk1>
        <a:lt1>
          <a:srgbClr val="FFFFFF"/>
        </a:lt1>
        <a:dk2>
          <a:srgbClr val="529D26"/>
        </a:dk2>
        <a:lt2>
          <a:srgbClr val="EEECE1"/>
        </a:lt2>
        <a:accent1>
          <a:srgbClr val="529D26"/>
        </a:accent1>
        <a:accent2>
          <a:srgbClr val="24C2B0"/>
        </a:accent2>
        <a:accent3>
          <a:srgbClr val="FFFFFF"/>
        </a:accent3>
        <a:accent4>
          <a:srgbClr val="000000"/>
        </a:accent4>
        <a:accent5>
          <a:srgbClr val="B3CCAC"/>
        </a:accent5>
        <a:accent6>
          <a:srgbClr val="20B09F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houd bullet 2">
        <a:dk1>
          <a:srgbClr val="000000"/>
        </a:dk1>
        <a:lt1>
          <a:srgbClr val="FFFFFF"/>
        </a:lt1>
        <a:dk2>
          <a:srgbClr val="529D26"/>
        </a:dk2>
        <a:lt2>
          <a:srgbClr val="EEECE1"/>
        </a:lt2>
        <a:accent1>
          <a:srgbClr val="58AE8B"/>
        </a:accent1>
        <a:accent2>
          <a:srgbClr val="2494C5"/>
        </a:accent2>
        <a:accent3>
          <a:srgbClr val="FFFFFF"/>
        </a:accent3>
        <a:accent4>
          <a:srgbClr val="000000"/>
        </a:accent4>
        <a:accent5>
          <a:srgbClr val="B4D3C4"/>
        </a:accent5>
        <a:accent6>
          <a:srgbClr val="2086B2"/>
        </a:accent6>
        <a:hlink>
          <a:srgbClr val="9ACCD4"/>
        </a:hlink>
        <a:folHlink>
          <a:srgbClr val="A1008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Inhoud bullet 3">
        <a:dk1>
          <a:srgbClr val="000000"/>
        </a:dk1>
        <a:lt1>
          <a:srgbClr val="FFFFFF"/>
        </a:lt1>
        <a:dk2>
          <a:srgbClr val="529D26"/>
        </a:dk2>
        <a:lt2>
          <a:srgbClr val="EEECE1"/>
        </a:lt2>
        <a:accent1>
          <a:srgbClr val="529D26"/>
        </a:accent1>
        <a:accent2>
          <a:srgbClr val="58AE8B"/>
        </a:accent2>
        <a:accent3>
          <a:srgbClr val="FFFFFF"/>
        </a:accent3>
        <a:accent4>
          <a:srgbClr val="000000"/>
        </a:accent4>
        <a:accent5>
          <a:srgbClr val="B3CCAC"/>
        </a:accent5>
        <a:accent6>
          <a:srgbClr val="4F9D7D"/>
        </a:accent6>
        <a:hlink>
          <a:srgbClr val="2494C5"/>
        </a:hlink>
        <a:folHlink>
          <a:srgbClr val="9ACCD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1_Standaardontwerp">
  <a:themeElements>
    <a:clrScheme name="">
      <a:dk1>
        <a:srgbClr val="000000"/>
      </a:dk1>
      <a:lt1>
        <a:srgbClr val="FFFFFF"/>
      </a:lt1>
      <a:dk2>
        <a:srgbClr val="046F96"/>
      </a:dk2>
      <a:lt2>
        <a:srgbClr val="EEECE1"/>
      </a:lt2>
      <a:accent1>
        <a:srgbClr val="046F96"/>
      </a:accent1>
      <a:accent2>
        <a:srgbClr val="9ACCD4"/>
      </a:accent2>
      <a:accent3>
        <a:srgbClr val="FFFFFF"/>
      </a:accent3>
      <a:accent4>
        <a:srgbClr val="000000"/>
      </a:accent4>
      <a:accent5>
        <a:srgbClr val="AABBC9"/>
      </a:accent5>
      <a:accent6>
        <a:srgbClr val="8BB9C0"/>
      </a:accent6>
      <a:hlink>
        <a:srgbClr val="ED8FBB"/>
      </a:hlink>
      <a:folHlink>
        <a:srgbClr val="900079"/>
      </a:folHlink>
    </a:clrScheme>
    <a:fontScheme name="1_Standaardontwerp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2 kolommen 1">
        <a:dk1>
          <a:srgbClr val="000000"/>
        </a:dk1>
        <a:lt1>
          <a:srgbClr val="FFFFFF"/>
        </a:lt1>
        <a:dk2>
          <a:srgbClr val="529D26"/>
        </a:dk2>
        <a:lt2>
          <a:srgbClr val="EEECE1"/>
        </a:lt2>
        <a:accent1>
          <a:srgbClr val="529D26"/>
        </a:accent1>
        <a:accent2>
          <a:srgbClr val="24C2B0"/>
        </a:accent2>
        <a:accent3>
          <a:srgbClr val="FFFFFF"/>
        </a:accent3>
        <a:accent4>
          <a:srgbClr val="000000"/>
        </a:accent4>
        <a:accent5>
          <a:srgbClr val="B3CCAC"/>
        </a:accent5>
        <a:accent6>
          <a:srgbClr val="20B09F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 kolommen 2">
        <a:dk1>
          <a:srgbClr val="000000"/>
        </a:dk1>
        <a:lt1>
          <a:srgbClr val="FFFFFF"/>
        </a:lt1>
        <a:dk2>
          <a:srgbClr val="529D26"/>
        </a:dk2>
        <a:lt2>
          <a:srgbClr val="EEECE1"/>
        </a:lt2>
        <a:accent1>
          <a:srgbClr val="58AE8B"/>
        </a:accent1>
        <a:accent2>
          <a:srgbClr val="2494C5"/>
        </a:accent2>
        <a:accent3>
          <a:srgbClr val="FFFFFF"/>
        </a:accent3>
        <a:accent4>
          <a:srgbClr val="000000"/>
        </a:accent4>
        <a:accent5>
          <a:srgbClr val="B4D3C4"/>
        </a:accent5>
        <a:accent6>
          <a:srgbClr val="2086B2"/>
        </a:accent6>
        <a:hlink>
          <a:srgbClr val="9ACCD4"/>
        </a:hlink>
        <a:folHlink>
          <a:srgbClr val="A1008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 kolommen 3">
        <a:dk1>
          <a:srgbClr val="000000"/>
        </a:dk1>
        <a:lt1>
          <a:srgbClr val="FFFFFF"/>
        </a:lt1>
        <a:dk2>
          <a:srgbClr val="529D26"/>
        </a:dk2>
        <a:lt2>
          <a:srgbClr val="EEECE1"/>
        </a:lt2>
        <a:accent1>
          <a:srgbClr val="529D26"/>
        </a:accent1>
        <a:accent2>
          <a:srgbClr val="58AE8B"/>
        </a:accent2>
        <a:accent3>
          <a:srgbClr val="FFFFFF"/>
        </a:accent3>
        <a:accent4>
          <a:srgbClr val="000000"/>
        </a:accent4>
        <a:accent5>
          <a:srgbClr val="B3CCAC"/>
        </a:accent5>
        <a:accent6>
          <a:srgbClr val="4F9D7D"/>
        </a:accent6>
        <a:hlink>
          <a:srgbClr val="2494C5"/>
        </a:hlink>
        <a:folHlink>
          <a:srgbClr val="9ACCD4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15488</TotalTime>
  <Words>327</Words>
  <Application>Microsoft Office PowerPoint</Application>
  <PresentationFormat>Diavoorstelling (4:3)</PresentationFormat>
  <Paragraphs>93</Paragraphs>
  <Slides>15</Slides>
  <Notes>2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3</vt:i4>
      </vt:variant>
      <vt:variant>
        <vt:lpstr>Diatitels</vt:lpstr>
      </vt:variant>
      <vt:variant>
        <vt:i4>15</vt:i4>
      </vt:variant>
    </vt:vector>
  </HeadingPairs>
  <TitlesOfParts>
    <vt:vector size="21" baseType="lpstr">
      <vt:lpstr>Arial</vt:lpstr>
      <vt:lpstr>Calibri</vt:lpstr>
      <vt:lpstr>Verdana</vt:lpstr>
      <vt:lpstr>Office-thema</vt:lpstr>
      <vt:lpstr>Inhoud bullet</vt:lpstr>
      <vt:lpstr>1_Standaardontwerp</vt:lpstr>
      <vt:lpstr>  Werken bij DUO   Door: Fedde van der List</vt:lpstr>
      <vt:lpstr>De onderwerpen</vt:lpstr>
      <vt:lpstr>Introductie</vt:lpstr>
      <vt:lpstr>Wat doet duo?</vt:lpstr>
      <vt:lpstr>Wat kun je allemaal bij DUO</vt:lpstr>
      <vt:lpstr>Wat zijn mijn werkzaamheden?</vt:lpstr>
      <vt:lpstr>De mogelijkheden voor jullie</vt:lpstr>
      <vt:lpstr>De inhoud van jullie lessen</vt:lpstr>
      <vt:lpstr>Intro tot de test piramide</vt:lpstr>
      <vt:lpstr>Testen is een mindset</vt:lpstr>
      <vt:lpstr>Verschillende certificeringen</vt:lpstr>
      <vt:lpstr>Installeren software</vt:lpstr>
      <vt:lpstr>Jira</vt:lpstr>
      <vt:lpstr>Monkey testing</vt:lpstr>
      <vt:lpstr>Vragen en meer…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Werken bij DUO   Door: Fedde van der List</dc:title>
  <dc:creator>List, Fedde van der</dc:creator>
  <cp:lastModifiedBy>List F van der, Fedde</cp:lastModifiedBy>
  <cp:revision>22</cp:revision>
  <dcterms:created xsi:type="dcterms:W3CDTF">2020-08-18T06:16:28Z</dcterms:created>
  <dcterms:modified xsi:type="dcterms:W3CDTF">2022-12-16T17:50:59Z</dcterms:modified>
</cp:coreProperties>
</file>