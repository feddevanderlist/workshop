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</p:sldMasterIdLst>
  <p:notesMasterIdLst>
    <p:notesMasterId r:id="rId15"/>
  </p:notesMasterIdLst>
  <p:sldIdLst>
    <p:sldId id="257" r:id="rId3"/>
    <p:sldId id="268" r:id="rId4"/>
    <p:sldId id="269" r:id="rId5"/>
    <p:sldId id="270" r:id="rId6"/>
    <p:sldId id="271" r:id="rId7"/>
    <p:sldId id="272" r:id="rId8"/>
    <p:sldId id="277" r:id="rId9"/>
    <p:sldId id="273" r:id="rId10"/>
    <p:sldId id="275" r:id="rId11"/>
    <p:sldId id="276" r:id="rId12"/>
    <p:sldId id="274" r:id="rId13"/>
    <p:sldId id="278" r:id="rId14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26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5349D8-FE83-4AF1-84FD-A18D09539366}" type="datetimeFigureOut">
              <a:rPr lang="nl-NL" smtClean="0"/>
              <a:t>2-2-2023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AD6A90-DA12-4740-AEF9-09E251BA304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294280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3" name="Rectangle 3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NL" altLang="nl-NL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8E6081-4718-43A4-8092-B0E3C5F1C4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65D53233-8D3D-490E-8B82-396A8A31A2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510D0BC-4723-4D86-9484-C58645F3C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60FF9-1E05-445F-9375-F0CDFCF23908}" type="datetimeFigureOut">
              <a:rPr lang="nl-NL" smtClean="0"/>
              <a:t>2-2-2023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17C5DC9-A3EB-466E-BB0F-271CC7A4D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118547C-2BD7-4DF1-A742-0B98E22FE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090F9-9824-4F2B-A927-2B9A92E590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6101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327A6F-587D-43B7-9B56-30A8FFB6F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9617C94-1CD3-45CB-91C7-6A6CFD6278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EB69FE7-8982-43FE-9A39-23A5B26DB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60FF9-1E05-445F-9375-F0CDFCF23908}" type="datetimeFigureOut">
              <a:rPr lang="nl-NL" smtClean="0"/>
              <a:t>2-2-2023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E3CE874-8406-4559-8BA1-D046431C9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033EE6E-7795-4A02-922F-E8EF3C29B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090F9-9824-4F2B-A927-2B9A92E590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002139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0A07B2-E9CD-4BF1-9AAD-307FB2FF3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61D1530-06DB-4AAA-A163-24213226DE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F5C126C-8EB0-4B96-93C3-B2044E967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60FF9-1E05-445F-9375-F0CDFCF23908}" type="datetimeFigureOut">
              <a:rPr lang="nl-NL" smtClean="0"/>
              <a:t>2-2-2023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501024F-E6CF-4C84-8C98-68688CA73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8911190-67C5-448D-94B6-042F8D089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090F9-9824-4F2B-A927-2B9A92E590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9357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B4A1C0-E861-444F-A5FB-CF14A704F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455F88A-6935-4B16-A27F-920D4DD295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198F47BA-8C60-4A04-8D3D-348F95BD25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1283FF44-EC94-41D6-B329-4E7511DDA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60FF9-1E05-445F-9375-F0CDFCF23908}" type="datetimeFigureOut">
              <a:rPr lang="nl-NL" smtClean="0"/>
              <a:t>2-2-2023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0FDC28FD-B4B3-429B-828B-A28A29097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B811A859-62E5-4272-8EB8-6DE02870A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090F9-9824-4F2B-A927-2B9A92E590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17395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0E2051-2A50-41FB-8842-C81673694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EA06C30-7ECE-420A-B13C-CCE9837FBE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FE161E7E-B6E7-476D-A912-0227BFF570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BC3CA02E-ADF5-4519-A1F3-B3BAD12EE2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1AD0202B-C424-48E7-BEB7-AB37113B87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74E0A4A3-5069-4D46-A5BD-9F169E9FF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60FF9-1E05-445F-9375-F0CDFCF23908}" type="datetimeFigureOut">
              <a:rPr lang="nl-NL" smtClean="0"/>
              <a:t>2-2-2023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7AA4CEB7-0833-47FE-ACA4-B641E3526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74128E56-480F-458B-B20B-BE3CE3334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090F9-9824-4F2B-A927-2B9A92E590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046829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184657-6923-467D-831A-18915DAEE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B46E5341-8E5A-49E3-8D46-186B64632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60FF9-1E05-445F-9375-F0CDFCF23908}" type="datetimeFigureOut">
              <a:rPr lang="nl-NL" smtClean="0"/>
              <a:t>2-2-2023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72605437-0153-4442-A421-54BDC6AA9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8665E95D-DF58-406C-90E8-A2A332EF0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090F9-9824-4F2B-A927-2B9A92E590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970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268ED0F6-192E-4906-9228-B69E79D71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60FF9-1E05-445F-9375-F0CDFCF23908}" type="datetimeFigureOut">
              <a:rPr lang="nl-NL" smtClean="0"/>
              <a:t>2-2-2023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350C26DE-A19A-4F86-9BC2-B0F242353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0DD7B063-9C63-427E-9F58-8D6EDFDFB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090F9-9824-4F2B-A927-2B9A92E590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39824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990741-9156-4051-B28D-2901D1276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59545E0-9FED-407A-A9A9-B52118532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41A1E785-DFC6-4E5D-9484-58ABE9ACF2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850B861-E92B-4F08-9A3C-A1F0CA596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60FF9-1E05-445F-9375-F0CDFCF23908}" type="datetimeFigureOut">
              <a:rPr lang="nl-NL" smtClean="0"/>
              <a:t>2-2-2023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9BAE85FB-5943-494F-9460-9C44303B0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B5A971C1-8629-4CF6-9067-58EFCE48F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090F9-9824-4F2B-A927-2B9A92E590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1593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73BD3E-EEA5-4E15-AE79-8E11E01A5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4B9862DF-61A1-455F-8D18-C1433D4B27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A9154B9F-35A4-40ED-A7F5-C463540402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409FBEAE-536D-476D-89F5-B47C6B1C8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60FF9-1E05-445F-9375-F0CDFCF23908}" type="datetimeFigureOut">
              <a:rPr lang="nl-NL" smtClean="0"/>
              <a:t>2-2-2023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D9235B6-BD54-46B8-BE3F-B4763E642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D5F04FA5-400A-477E-B98D-4A367A108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090F9-9824-4F2B-A927-2B9A92E590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64001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73446E-859A-40CA-8BB3-86E4B1475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83743F53-32DB-4887-822F-5FF9CB0290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CB97521-65A6-4A7B-920F-2B2FB5050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60FF9-1E05-445F-9375-F0CDFCF23908}" type="datetimeFigureOut">
              <a:rPr lang="nl-NL" smtClean="0"/>
              <a:t>2-2-2023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949DB45-DA7F-4049-B0CB-3E1F2568B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2C889B2-16D4-41E9-9509-BAE78E965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090F9-9824-4F2B-A927-2B9A92E590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113461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7753E2B9-20F9-45C8-AF89-D9C9439A3A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465C0351-27A7-4F7F-B84D-86D2D5B8B1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F1F567F-33A4-47B5-BE3C-0F3DCDFF1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60FF9-1E05-445F-9375-F0CDFCF23908}" type="datetimeFigureOut">
              <a:rPr lang="nl-NL" smtClean="0"/>
              <a:t>2-2-2023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78347F1-0617-434D-A6D4-E07D6BFBB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A437A80-2385-4793-B063-25BDAB4B2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090F9-9824-4F2B-A927-2B9A92E590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781706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1 tekstbl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pKleurvlakOnder"/>
          <p:cNvSpPr>
            <a:spLocks noChangeArrowheads="1"/>
          </p:cNvSpPr>
          <p:nvPr userDrawn="1"/>
        </p:nvSpPr>
        <p:spPr bwMode="auto">
          <a:xfrm>
            <a:off x="0" y="6318250"/>
            <a:ext cx="12192000" cy="539750"/>
          </a:xfrm>
          <a:prstGeom prst="rect">
            <a:avLst/>
          </a:prstGeom>
          <a:solidFill>
            <a:srgbClr val="046F96"/>
          </a:solidFill>
          <a:ln>
            <a:noFill/>
          </a:ln>
          <a:extLs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1pPr>
            <a:lvl2pPr marL="742950" indent="-28575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2pPr>
            <a:lvl3pPr marL="1143000" indent="-22860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3pPr>
            <a:lvl4pPr marL="1600200" indent="-22860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4pPr>
            <a:lvl5pPr marL="2057400" indent="-22860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9pPr>
          </a:lstStyle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nl-NL" altLang="nl-NL" sz="1800">
              <a:solidFill>
                <a:srgbClr val="FFFFFF"/>
              </a:solidFill>
            </a:endParaRPr>
          </a:p>
        </p:txBody>
      </p:sp>
      <p:sp>
        <p:nvSpPr>
          <p:cNvPr id="5" name="shpTekst"/>
          <p:cNvSpPr>
            <a:spLocks noChangeArrowheads="1"/>
          </p:cNvSpPr>
          <p:nvPr userDrawn="1"/>
        </p:nvSpPr>
        <p:spPr bwMode="auto">
          <a:xfrm>
            <a:off x="0" y="1"/>
            <a:ext cx="12192000" cy="1071563"/>
          </a:xfrm>
          <a:prstGeom prst="rect">
            <a:avLst/>
          </a:prstGeom>
          <a:solidFill>
            <a:srgbClr val="046F96"/>
          </a:solidFill>
          <a:ln>
            <a:noFill/>
          </a:ln>
          <a:extLs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1pPr>
            <a:lvl2pPr marL="742950" indent="-28575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2pPr>
            <a:lvl3pPr marL="1143000" indent="-22860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3pPr>
            <a:lvl4pPr marL="1600200" indent="-22860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4pPr>
            <a:lvl5pPr marL="2057400" indent="-22860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9pPr>
          </a:lstStyle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nl-NL" altLang="nl-NL" sz="1800">
              <a:solidFill>
                <a:srgbClr val="FFFFFF"/>
              </a:solidFill>
            </a:endParaRPr>
          </a:p>
        </p:txBody>
      </p:sp>
      <p:pic>
        <p:nvPicPr>
          <p:cNvPr id="6" name="shpDatum" descr="RO__vervolgpagina~LPPT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857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91067" y="1233039"/>
            <a:ext cx="10462717" cy="571504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 sz="2600" spc="-60" baseline="0">
                <a:solidFill>
                  <a:srgbClr val="2494C5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r>
              <a:rPr lang="nl-NL"/>
              <a:t>Klik om de stijl te bewerken</a:t>
            </a:r>
            <a:endParaRPr lang="nl-NL" dirty="0"/>
          </a:p>
        </p:txBody>
      </p:sp>
      <p:sp>
        <p:nvSpPr>
          <p:cNvPr id="13" name="Tijdelijke aanduiding voor inhoud 2"/>
          <p:cNvSpPr>
            <a:spLocks noGrp="1"/>
          </p:cNvSpPr>
          <p:nvPr>
            <p:ph idx="1"/>
          </p:nvPr>
        </p:nvSpPr>
        <p:spPr>
          <a:xfrm>
            <a:off x="493144" y="1798626"/>
            <a:ext cx="10477573" cy="427358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179388" indent="-179388">
              <a:buFont typeface="Arial" pitchFamily="34" charset="0"/>
              <a:buChar char="•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396000" indent="-252000">
              <a:buFontTx/>
              <a:buBlip>
                <a:blip r:embed="rId3"/>
              </a:buBlip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539750" indent="-144000">
              <a:buSzPct val="100000"/>
              <a:buFontTx/>
              <a:buBlip>
                <a:blip r:embed="rId4"/>
              </a:buBlip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</a:lstStyle>
          <a:p>
            <a:pPr lvl="0"/>
            <a:r>
              <a:rPr lang="nl-NL" dirty="0"/>
              <a:t>Klik om de modelstijlen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</p:txBody>
      </p:sp>
      <p:sp>
        <p:nvSpPr>
          <p:cNvPr id="7" name="shpTitel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 altLang="nl-NL"/>
              <a:t>Afdelingsoverleg Projectmanagement 16-02-2016</a:t>
            </a:r>
          </a:p>
        </p:txBody>
      </p:sp>
      <p:sp>
        <p:nvSpPr>
          <p:cNvPr id="8" name="shpKleurvlakBoven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nl-NL" altLang="nl-NL"/>
          </a:p>
        </p:txBody>
      </p:sp>
      <p:sp>
        <p:nvSpPr>
          <p:cNvPr id="9" name="shpBeeldmerk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BA4F0AE-21D7-4A6C-ABCA-006413C10275}" type="slidenum">
              <a:rPr lang="nl-NL"/>
              <a:pPr>
                <a:defRPr/>
              </a:pPr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034308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nl-NL"/>
              <a:t>Klik om de stijl te bewerken</a:t>
            </a:r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nl-NL"/>
              <a:t>Klik om de ondertitelstijl van het model te bewerken</a:t>
            </a:r>
          </a:p>
        </p:txBody>
      </p:sp>
      <p:sp>
        <p:nvSpPr>
          <p:cNvPr id="4" name="shpDatum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nl-NL" altLang="nl-NL"/>
              <a:t>Afdelingsoverleg Projectmanagement 16-02-2016</a:t>
            </a:r>
          </a:p>
        </p:txBody>
      </p:sp>
    </p:spTree>
    <p:extLst>
      <p:ext uri="{BB962C8B-B14F-4D97-AF65-F5344CB8AC3E}">
        <p14:creationId xmlns:p14="http://schemas.microsoft.com/office/powerpoint/2010/main" val="13551831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shpDatum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nl-NL" altLang="nl-NL"/>
              <a:t>Afdelingsoverleg Projectmanagement 16-02-2016</a:t>
            </a:r>
          </a:p>
        </p:txBody>
      </p:sp>
    </p:spTree>
    <p:extLst>
      <p:ext uri="{BB962C8B-B14F-4D97-AF65-F5344CB8AC3E}">
        <p14:creationId xmlns:p14="http://schemas.microsoft.com/office/powerpoint/2010/main" val="106849344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4" name="shpDatum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nl-NL" altLang="nl-NL"/>
              <a:t>Afdelingsoverleg Projectmanagement 16-02-2016</a:t>
            </a:r>
          </a:p>
        </p:txBody>
      </p:sp>
    </p:spTree>
    <p:extLst>
      <p:ext uri="{BB962C8B-B14F-4D97-AF65-F5344CB8AC3E}">
        <p14:creationId xmlns:p14="http://schemas.microsoft.com/office/powerpoint/2010/main" val="19923707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sz="half" idx="1"/>
          </p:nvPr>
        </p:nvSpPr>
        <p:spPr>
          <a:xfrm>
            <a:off x="6591301" y="3155951"/>
            <a:ext cx="2222500" cy="305911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/>
          <p:cNvSpPr>
            <a:spLocks noGrp="1"/>
          </p:cNvSpPr>
          <p:nvPr>
            <p:ph sz="half" idx="2"/>
          </p:nvPr>
        </p:nvSpPr>
        <p:spPr>
          <a:xfrm>
            <a:off x="9017001" y="3155951"/>
            <a:ext cx="2224617" cy="305911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shpDatum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nl-NL" altLang="nl-NL"/>
              <a:t>Afdelingsoverleg Projectmanagement 16-02-2016</a:t>
            </a:r>
          </a:p>
        </p:txBody>
      </p:sp>
    </p:spTree>
    <p:extLst>
      <p:ext uri="{BB962C8B-B14F-4D97-AF65-F5344CB8AC3E}">
        <p14:creationId xmlns:p14="http://schemas.microsoft.com/office/powerpoint/2010/main" val="19582482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4" name="Tijdelijke aanduiding voor inhoud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6" name="Tijdelijke aanduiding voor inhoud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shpDatum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nl-NL" altLang="nl-NL"/>
              <a:t>Afdelingsoverleg Projectmanagement 16-02-2016</a:t>
            </a:r>
          </a:p>
        </p:txBody>
      </p:sp>
    </p:spTree>
    <p:extLst>
      <p:ext uri="{BB962C8B-B14F-4D97-AF65-F5344CB8AC3E}">
        <p14:creationId xmlns:p14="http://schemas.microsoft.com/office/powerpoint/2010/main" val="350700586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</a:p>
        </p:txBody>
      </p:sp>
      <p:sp>
        <p:nvSpPr>
          <p:cNvPr id="3" name="shpDatum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nl-NL" altLang="nl-NL"/>
              <a:t>Afdelingsoverleg Projectmanagement 16-02-2016</a:t>
            </a:r>
          </a:p>
        </p:txBody>
      </p:sp>
    </p:spTree>
    <p:extLst>
      <p:ext uri="{BB962C8B-B14F-4D97-AF65-F5344CB8AC3E}">
        <p14:creationId xmlns:p14="http://schemas.microsoft.com/office/powerpoint/2010/main" val="389014622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pDatum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nl-NL" altLang="nl-NL"/>
              <a:t>Afdelingsoverleg Projectmanagement 16-02-2016</a:t>
            </a:r>
          </a:p>
        </p:txBody>
      </p:sp>
    </p:spTree>
    <p:extLst>
      <p:ext uri="{BB962C8B-B14F-4D97-AF65-F5344CB8AC3E}">
        <p14:creationId xmlns:p14="http://schemas.microsoft.com/office/powerpoint/2010/main" val="4183427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5" name="shpDatum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nl-NL" altLang="nl-NL"/>
              <a:t>Afdelingsoverleg Projectmanagement 16-02-2016</a:t>
            </a:r>
          </a:p>
        </p:txBody>
      </p:sp>
    </p:spTree>
    <p:extLst>
      <p:ext uri="{BB962C8B-B14F-4D97-AF65-F5344CB8AC3E}">
        <p14:creationId xmlns:p14="http://schemas.microsoft.com/office/powerpoint/2010/main" val="16243249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afbeelding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nl-NL" noProof="0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5" name="shpDatum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nl-NL" altLang="nl-NL"/>
              <a:t>Afdelingsoverleg Projectmanagement 16-02-2016</a:t>
            </a:r>
          </a:p>
        </p:txBody>
      </p:sp>
    </p:spTree>
    <p:extLst>
      <p:ext uri="{BB962C8B-B14F-4D97-AF65-F5344CB8AC3E}">
        <p14:creationId xmlns:p14="http://schemas.microsoft.com/office/powerpoint/2010/main" val="55087204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verticale teks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shpDatum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nl-NL" altLang="nl-NL"/>
              <a:t>Afdelingsoverleg Projectmanagement 16-02-2016</a:t>
            </a:r>
          </a:p>
        </p:txBody>
      </p:sp>
    </p:spTree>
    <p:extLst>
      <p:ext uri="{BB962C8B-B14F-4D97-AF65-F5344CB8AC3E}">
        <p14:creationId xmlns:p14="http://schemas.microsoft.com/office/powerpoint/2010/main" val="183247465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/>
          <p:cNvSpPr>
            <a:spLocks noGrp="1"/>
          </p:cNvSpPr>
          <p:nvPr>
            <p:ph type="title" orient="vert"/>
          </p:nvPr>
        </p:nvSpPr>
        <p:spPr>
          <a:xfrm>
            <a:off x="10075334" y="2500313"/>
            <a:ext cx="1166284" cy="3714750"/>
          </a:xfrm>
        </p:spPr>
        <p:txBody>
          <a:bodyPr vert="eaVert"/>
          <a:lstStyle/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verticale tekst 2"/>
          <p:cNvSpPr>
            <a:spLocks noGrp="1"/>
          </p:cNvSpPr>
          <p:nvPr>
            <p:ph type="body" orient="vert" idx="1"/>
          </p:nvPr>
        </p:nvSpPr>
        <p:spPr>
          <a:xfrm>
            <a:off x="6572251" y="2500313"/>
            <a:ext cx="3299883" cy="3714750"/>
          </a:xfrm>
        </p:spPr>
        <p:txBody>
          <a:bodyPr vert="eaVert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shpDatum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nl-NL" altLang="nl-NL"/>
              <a:t>Afdelingsoverleg Projectmanagement 16-02-2016</a:t>
            </a:r>
          </a:p>
        </p:txBody>
      </p:sp>
    </p:spTree>
    <p:extLst>
      <p:ext uri="{BB962C8B-B14F-4D97-AF65-F5344CB8AC3E}">
        <p14:creationId xmlns:p14="http://schemas.microsoft.com/office/powerpoint/2010/main" val="6520386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image" Target="../media/image4.jpeg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14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6.pn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D3AD2254-F6EE-499F-BB17-35B2FBFD55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D71B614-D92B-489C-A92A-898ABBE1D9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BDF0D70-C4F2-4352-AB96-9F7BD1045F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860FF9-1E05-445F-9375-F0CDFCF23908}" type="datetimeFigureOut">
              <a:rPr lang="nl-NL" smtClean="0"/>
              <a:t>2-2-2023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73DCC50-F819-41FE-B610-CF058C457F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69DFDB2-161A-42C3-8A34-E40311CF12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7090F9-9824-4F2B-A927-2B9A92E590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64557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shpKleurvlak"/>
          <p:cNvSpPr>
            <a:spLocks noChangeArrowheads="1"/>
          </p:cNvSpPr>
          <p:nvPr userDrawn="1"/>
        </p:nvSpPr>
        <p:spPr bwMode="auto">
          <a:xfrm>
            <a:off x="6096000" y="0"/>
            <a:ext cx="6096000" cy="6858000"/>
          </a:xfrm>
          <a:prstGeom prst="rect">
            <a:avLst/>
          </a:prstGeom>
          <a:solidFill>
            <a:srgbClr val="046F96"/>
          </a:solidFill>
          <a:ln>
            <a:noFill/>
          </a:ln>
          <a:extLs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1pPr>
            <a:lvl2pPr marL="742950" indent="-28575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2pPr>
            <a:lvl3pPr marL="1143000" indent="-22860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3pPr>
            <a:lvl4pPr marL="1600200" indent="-22860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4pPr>
            <a:lvl5pPr marL="2057400" indent="-22860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9pPr>
          </a:lstStyle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nl-NL" altLang="nl-NL" sz="1800">
              <a:solidFill>
                <a:srgbClr val="FFFFFF"/>
              </a:solidFill>
            </a:endParaRPr>
          </a:p>
        </p:txBody>
      </p:sp>
      <p:sp>
        <p:nvSpPr>
          <p:cNvPr id="181253" name="shpDatum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572251" y="6380164"/>
            <a:ext cx="4953000" cy="363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nl-NL" altLang="nl-NL">
                <a:cs typeface="Arial" charset="0"/>
              </a:rPr>
              <a:t>Afdelingsoverleg Projectmanagement 16-02-2016</a:t>
            </a:r>
          </a:p>
        </p:txBody>
      </p:sp>
      <p:sp>
        <p:nvSpPr>
          <p:cNvPr id="3076" name="shpTitel"/>
          <p:cNvSpPr>
            <a:spLocks noGrp="1" noChangeArrowheads="1"/>
          </p:cNvSpPr>
          <p:nvPr>
            <p:ph type="title"/>
          </p:nvPr>
        </p:nvSpPr>
        <p:spPr bwMode="auto">
          <a:xfrm>
            <a:off x="6572251" y="2500313"/>
            <a:ext cx="4669367" cy="571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nl-NL" altLang="nl-NL"/>
              <a:t>Klik om het opmaakprofiel te bewerken</a:t>
            </a:r>
          </a:p>
        </p:txBody>
      </p:sp>
      <p:sp>
        <p:nvSpPr>
          <p:cNvPr id="3077" name="shpTekst"/>
          <p:cNvSpPr>
            <a:spLocks noGrp="1" noChangeArrowheads="1"/>
          </p:cNvSpPr>
          <p:nvPr>
            <p:ph type="body" idx="1"/>
          </p:nvPr>
        </p:nvSpPr>
        <p:spPr bwMode="auto">
          <a:xfrm>
            <a:off x="6591300" y="3155951"/>
            <a:ext cx="4650317" cy="305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 altLang="nl-NL"/>
              <a:t>Klik om de opmaakprofielen van de modeltekst te bewerken</a:t>
            </a:r>
          </a:p>
        </p:txBody>
      </p:sp>
      <p:pic>
        <p:nvPicPr>
          <p:cNvPr id="3078" name="Picture 11" descr="DUO pand 5"/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9" name="Picture 8" descr="Logo_Powerpoint_diap_nl"/>
          <p:cNvPicPr>
            <a:picLocks noChangeAspect="1" noChangeArrowheads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2001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06641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hf sldNum="0"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>
          <a:solidFill>
            <a:srgbClr val="FFFFFF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>
          <a:solidFill>
            <a:srgbClr val="FFFFFF"/>
          </a:solidFill>
          <a:latin typeface="Verdana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>
          <a:solidFill>
            <a:srgbClr val="FFFFFF"/>
          </a:solidFill>
          <a:latin typeface="Verdana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>
          <a:solidFill>
            <a:srgbClr val="FFFFFF"/>
          </a:solidFill>
          <a:latin typeface="Verdana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>
          <a:solidFill>
            <a:srgbClr val="FFFFFF"/>
          </a:solidFill>
          <a:latin typeface="Verdana" pitchFamily="34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>
          <a:solidFill>
            <a:srgbClr val="FFFFFF"/>
          </a:solidFill>
          <a:latin typeface="Verdana" pitchFamily="34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>
          <a:solidFill>
            <a:srgbClr val="FFFFFF"/>
          </a:solidFill>
          <a:latin typeface="Verdana" pitchFamily="34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>
          <a:solidFill>
            <a:srgbClr val="FFFFFF"/>
          </a:solidFill>
          <a:latin typeface="Verdana" pitchFamily="34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>
          <a:solidFill>
            <a:srgbClr val="FFFFFF"/>
          </a:solidFill>
          <a:latin typeface="Verdana" pitchFamily="34" charset="0"/>
        </a:defRPr>
      </a:lvl9pPr>
    </p:titleStyle>
    <p:bodyStyle>
      <a:lvl1pPr marL="241300" indent="-241300" algn="l" rtl="0" eaLnBrk="0" fontAlgn="base" hangingPunct="0">
        <a:spcBef>
          <a:spcPct val="0"/>
        </a:spcBef>
        <a:spcAft>
          <a:spcPct val="0"/>
        </a:spcAft>
        <a:buSzPct val="80000"/>
        <a:buChar char="•"/>
        <a:defRPr>
          <a:solidFill>
            <a:srgbClr val="FFFFFF"/>
          </a:solidFill>
          <a:latin typeface="+mn-lt"/>
          <a:ea typeface="+mn-ea"/>
          <a:cs typeface="+mn-cs"/>
        </a:defRPr>
      </a:lvl1pPr>
      <a:lvl2pPr marL="8001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Blip>
          <a:blip r:embed="rId15"/>
        </a:buBlip>
        <a:defRPr>
          <a:solidFill>
            <a:srgbClr val="FFFFFF"/>
          </a:solidFill>
          <a:latin typeface="+mn-lt"/>
        </a:defRPr>
      </a:lvl2pPr>
      <a:lvl3pPr marL="12573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Blip>
          <a:blip r:embed="rId16"/>
        </a:buBlip>
        <a:defRPr>
          <a:solidFill>
            <a:srgbClr val="FFFFFF"/>
          </a:solidFill>
          <a:latin typeface="+mn-lt"/>
        </a:defRPr>
      </a:lvl3pPr>
      <a:lvl4pPr marL="17145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Blip>
          <a:blip r:embed="rId17"/>
        </a:buBlip>
        <a:defRPr>
          <a:solidFill>
            <a:srgbClr val="FFFFFF"/>
          </a:solidFill>
          <a:latin typeface="+mn-lt"/>
        </a:defRPr>
      </a:lvl4pPr>
      <a:lvl5pPr marL="21717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>
          <a:solidFill>
            <a:srgbClr val="FFFFFF"/>
          </a:solidFill>
          <a:latin typeface="+mn-lt"/>
        </a:defRPr>
      </a:lvl5pPr>
      <a:lvl6pPr marL="2628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>
          <a:solidFill>
            <a:srgbClr val="FFFFFF"/>
          </a:solidFill>
          <a:latin typeface="+mn-lt"/>
        </a:defRPr>
      </a:lvl6pPr>
      <a:lvl7pPr marL="30861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>
          <a:solidFill>
            <a:srgbClr val="FFFFFF"/>
          </a:solidFill>
          <a:latin typeface="+mn-lt"/>
        </a:defRPr>
      </a:lvl7pPr>
      <a:lvl8pPr marL="35433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>
          <a:solidFill>
            <a:srgbClr val="FFFFFF"/>
          </a:solidFill>
          <a:latin typeface="+mn-lt"/>
        </a:defRPr>
      </a:lvl8pPr>
      <a:lvl9pPr marL="40005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>
          <a:solidFill>
            <a:srgbClr val="FFFFFF"/>
          </a:solidFill>
          <a:latin typeface="+mn-lt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hyperlink" Target="https://developer.mozilla.org/en-US/docs/Web/HTTP/Status" TargetMode="Externa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2"/>
          <p:cNvSpPr>
            <a:spLocks noGrp="1" noChangeArrowheads="1"/>
          </p:cNvSpPr>
          <p:nvPr>
            <p:ph type="title"/>
          </p:nvPr>
        </p:nvSpPr>
        <p:spPr>
          <a:xfrm>
            <a:off x="6311900" y="2924176"/>
            <a:ext cx="4356100" cy="1296913"/>
          </a:xfrm>
        </p:spPr>
        <p:txBody>
          <a:bodyPr/>
          <a:lstStyle/>
          <a:p>
            <a:br>
              <a:rPr lang="nl-NL" altLang="nl-NL" sz="2200" dirty="0"/>
            </a:br>
            <a:br>
              <a:rPr lang="nl-NL" altLang="nl-NL" sz="2200" dirty="0"/>
            </a:br>
            <a:r>
              <a:rPr lang="nl-NL" altLang="nl-NL" sz="2200" dirty="0"/>
              <a:t>Workshops week 3</a:t>
            </a:r>
            <a:br>
              <a:rPr lang="nl-NL" altLang="nl-NL" sz="2200" dirty="0"/>
            </a:br>
            <a:br>
              <a:rPr lang="nl-NL" altLang="nl-NL" sz="2200" dirty="0"/>
            </a:br>
            <a:br>
              <a:rPr lang="nl-NL" altLang="nl-NL" sz="1400" dirty="0"/>
            </a:br>
            <a:r>
              <a:rPr lang="nl-NL" altLang="nl-NL" sz="1400" dirty="0"/>
              <a:t>Door: Fedde van der List</a:t>
            </a:r>
          </a:p>
        </p:txBody>
      </p:sp>
    </p:spTree>
    <p:extLst>
      <p:ext uri="{BB962C8B-B14F-4D97-AF65-F5344CB8AC3E}">
        <p14:creationId xmlns:p14="http://schemas.microsoft.com/office/powerpoint/2010/main" val="2452705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C5352E7-B994-495A-8358-5CF5B03C0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Vragen over vorige week?</a:t>
            </a:r>
          </a:p>
        </p:txBody>
      </p:sp>
      <p:pic>
        <p:nvPicPr>
          <p:cNvPr id="5" name="Tijdelijke aanduiding voor inhoud 4" descr="Afbeelding met tekst, persoon, buiten, teken&#10;&#10;Automatisch gegenereerde beschrijving">
            <a:extLst>
              <a:ext uri="{FF2B5EF4-FFF2-40B4-BE49-F238E27FC236}">
                <a16:creationId xmlns:a16="http://schemas.microsoft.com/office/drawing/2014/main" id="{BEAE1A36-276E-4CF3-873B-87F54A9C8F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2428" y="782570"/>
            <a:ext cx="7225748" cy="5292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969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4781DF-5ADB-49DC-8607-11F81C12F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</a:t>
            </a:r>
            <a:r>
              <a:rPr lang="en-US" dirty="0" err="1"/>
              <a:t>onderwerpen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0D636AF-C8CC-4825-9DB6-C8FC22E98A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Wat is </a:t>
            </a:r>
            <a:r>
              <a:rPr lang="en-US" dirty="0" err="1"/>
              <a:t>een</a:t>
            </a:r>
            <a:r>
              <a:rPr lang="en-US" dirty="0"/>
              <a:t> API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RESTful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HTTP status codes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Testen</a:t>
            </a:r>
            <a:r>
              <a:rPr lang="en-US" dirty="0"/>
              <a:t> van API’s met Postman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134149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95B531-346F-436C-ABFF-135CFA70B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Wat is </a:t>
            </a:r>
            <a:r>
              <a:rPr lang="en-US" dirty="0" err="1"/>
              <a:t>een</a:t>
            </a:r>
            <a:r>
              <a:rPr lang="en-US" dirty="0"/>
              <a:t> API 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8528247-0789-4C25-AFF4-E8AE774A90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application</a:t>
            </a:r>
            <a:r>
              <a:rPr lang="nl-NL" dirty="0"/>
              <a:t> </a:t>
            </a:r>
            <a:r>
              <a:rPr lang="nl-NL" dirty="0" err="1"/>
              <a:t>programming</a:t>
            </a:r>
            <a:r>
              <a:rPr lang="nl-NL" dirty="0"/>
              <a:t> interface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l-N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https://spec.openapis.org/oas/v3.1.0</a:t>
            </a:r>
          </a:p>
        </p:txBody>
      </p:sp>
    </p:spTree>
    <p:extLst>
      <p:ext uri="{BB962C8B-B14F-4D97-AF65-F5344CB8AC3E}">
        <p14:creationId xmlns:p14="http://schemas.microsoft.com/office/powerpoint/2010/main" val="15136020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EBBE49-4987-4553-94D0-EF203CB0D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RESTful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596695C-F7AC-42E5-8DED-1FB850EAE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Representational</a:t>
            </a:r>
            <a:r>
              <a:rPr lang="nl-NL" dirty="0"/>
              <a:t> State Transfer (REST)</a:t>
            </a:r>
          </a:p>
        </p:txBody>
      </p:sp>
    </p:spTree>
    <p:extLst>
      <p:ext uri="{BB962C8B-B14F-4D97-AF65-F5344CB8AC3E}">
        <p14:creationId xmlns:p14="http://schemas.microsoft.com/office/powerpoint/2010/main" val="15064524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F02E11-7EE1-46F9-997A-FBF2283CF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HTTP status codes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4F90ACF-CB54-4C21-88CE-271CA8A8D2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100-199 </a:t>
            </a:r>
            <a:r>
              <a:rPr lang="en-US" dirty="0" err="1"/>
              <a:t>Informatie</a:t>
            </a:r>
            <a:r>
              <a:rPr lang="en-US" dirty="0"/>
              <a:t> codes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200-299 </a:t>
            </a:r>
            <a:r>
              <a:rPr lang="en-US" dirty="0" err="1"/>
              <a:t>Succes</a:t>
            </a:r>
            <a:r>
              <a:rPr lang="en-US" dirty="0"/>
              <a:t> codes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300-399 </a:t>
            </a:r>
            <a:r>
              <a:rPr lang="en-US" dirty="0" err="1"/>
              <a:t>Doorstuur</a:t>
            </a:r>
            <a:r>
              <a:rPr lang="en-US" dirty="0"/>
              <a:t> codes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400-499 Client (</a:t>
            </a:r>
            <a:r>
              <a:rPr lang="en-US" dirty="0" err="1"/>
              <a:t>gebruikers</a:t>
            </a:r>
            <a:r>
              <a:rPr lang="en-US" dirty="0"/>
              <a:t>) error codes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500-599 Server error codes</a:t>
            </a:r>
            <a:endParaRPr lang="nl-NL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BDACA5C9-CA4E-4159-8413-E3F106FBB2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9172" y="0"/>
            <a:ext cx="54828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6189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FA4CEA-A632-E7F5-B24A-DCEFE23B8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</a:t>
            </a:r>
            <a:r>
              <a:rPr lang="en-US" dirty="0" err="1"/>
              <a:t>belangrijkste</a:t>
            </a:r>
            <a:r>
              <a:rPr lang="en-US" dirty="0"/>
              <a:t> </a:t>
            </a:r>
            <a:r>
              <a:rPr lang="en-US" dirty="0" err="1"/>
              <a:t>statussen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CA72274-2DF1-B760-2AA3-D7A72E281F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200 OK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201 Created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401 </a:t>
            </a:r>
            <a:r>
              <a:rPr lang="nl-NL" dirty="0" err="1"/>
              <a:t>Unauthorized</a:t>
            </a:r>
            <a:endParaRPr lang="nl-N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403 </a:t>
            </a:r>
            <a:r>
              <a:rPr lang="nl-NL" dirty="0" err="1"/>
              <a:t>Forbidden</a:t>
            </a:r>
            <a:endParaRPr lang="nl-N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404 </a:t>
            </a:r>
            <a:r>
              <a:rPr lang="nl-NL" dirty="0" err="1"/>
              <a:t>Not</a:t>
            </a:r>
            <a:r>
              <a:rPr lang="nl-NL" dirty="0"/>
              <a:t> Found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405 Method </a:t>
            </a:r>
            <a:r>
              <a:rPr lang="nl-NL" dirty="0" err="1"/>
              <a:t>Not</a:t>
            </a:r>
            <a:r>
              <a:rPr lang="nl-NL" dirty="0"/>
              <a:t> </a:t>
            </a:r>
            <a:r>
              <a:rPr lang="nl-NL" dirty="0" err="1"/>
              <a:t>Allowed</a:t>
            </a:r>
            <a:endParaRPr lang="nl-N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422 </a:t>
            </a:r>
            <a:r>
              <a:rPr lang="nl-NL" dirty="0" err="1"/>
              <a:t>Unprocessable</a:t>
            </a:r>
            <a:r>
              <a:rPr lang="nl-NL" dirty="0"/>
              <a:t> </a:t>
            </a:r>
            <a:r>
              <a:rPr lang="nl-NL" dirty="0" err="1"/>
              <a:t>Entity</a:t>
            </a:r>
            <a:endParaRPr lang="nl-N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500 </a:t>
            </a:r>
            <a:r>
              <a:rPr lang="nl-NL" dirty="0" err="1"/>
              <a:t>Internal</a:t>
            </a:r>
            <a:r>
              <a:rPr lang="nl-NL" dirty="0"/>
              <a:t> Server Error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503 Service </a:t>
            </a:r>
            <a:r>
              <a:rPr lang="nl-NL" dirty="0" err="1"/>
              <a:t>Unavailable</a:t>
            </a:r>
            <a:endParaRPr lang="nl-NL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l-N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>
                <a:hlinkClick r:id="rId2"/>
              </a:rPr>
              <a:t>https://developer.mozilla.org/en-US/docs/Web/HTTP/Status</a:t>
            </a:r>
            <a:r>
              <a:rPr lang="nl-NL" dirty="0"/>
              <a:t> 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357C0982-F45D-CBD1-3527-AE643686BD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1862" y="1080168"/>
            <a:ext cx="5452549" cy="4362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93721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D9D49D-EB46-441C-B82B-4555EED36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Testen</a:t>
            </a:r>
            <a:r>
              <a:rPr lang="en-US" dirty="0"/>
              <a:t> van API’s met Postman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6FA4321-002F-491A-8A26-9818AC35EB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HTTP method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url</a:t>
            </a:r>
            <a:endParaRPr lang="nl-NL" dirty="0"/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438367F3-A9D7-DC09-4E48-5D8974466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2713"/>
            <a:ext cx="12192000" cy="1827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02925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D9D49D-EB46-441C-B82B-4555EED36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Testen</a:t>
            </a:r>
            <a:r>
              <a:rPr lang="en-US" dirty="0"/>
              <a:t> van API’s met Postman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6FA4321-002F-491A-8A26-9818AC35EB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067" y="1804543"/>
            <a:ext cx="10477573" cy="427358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HTTP body</a:t>
            </a:r>
            <a:endParaRPr lang="nl-NL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CB7086E1-2790-34F9-EC9E-358CF8EF8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653" y="1890498"/>
            <a:ext cx="6220693" cy="3077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7792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D9D49D-EB46-441C-B82B-4555EED36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Testen</a:t>
            </a:r>
            <a:r>
              <a:rPr lang="en-US" dirty="0"/>
              <a:t> van API’s met Postman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6FA4321-002F-491A-8A26-9818AC35EB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067" y="1804543"/>
            <a:ext cx="10477573" cy="427358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HTTP response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l-NL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A3AA4D1F-066C-1E67-2D7A-14D9188A7F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697" y="2240364"/>
            <a:ext cx="5763429" cy="3534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917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C4217E-6CF0-C726-3628-3C54E28A2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Het </a:t>
            </a:r>
            <a:r>
              <a:rPr lang="en-GB" dirty="0" err="1"/>
              <a:t>testen</a:t>
            </a:r>
            <a:r>
              <a:rPr lang="en-GB" dirty="0"/>
              <a:t> van </a:t>
            </a:r>
            <a:r>
              <a:rPr lang="en-GB" dirty="0" err="1"/>
              <a:t>api’s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EB49477-3D9B-F73B-1F2D-D96976E2EA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GB" dirty="0"/>
              <a:t>Maak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stappen</a:t>
            </a:r>
            <a:r>
              <a:rPr lang="en-GB" dirty="0"/>
              <a:t> plan</a:t>
            </a:r>
          </a:p>
          <a:p>
            <a:pPr marL="285750" indent="-285750">
              <a:buFontTx/>
              <a:buChar char="-"/>
            </a:pPr>
            <a:endParaRPr lang="en-GB" dirty="0"/>
          </a:p>
          <a:p>
            <a:pPr marL="285750" indent="-285750">
              <a:buFontTx/>
              <a:buChar char="-"/>
            </a:pPr>
            <a:r>
              <a:rPr lang="en-GB" dirty="0" err="1"/>
              <a:t>functies</a:t>
            </a:r>
            <a:endParaRPr lang="en-GB" dirty="0"/>
          </a:p>
          <a:p>
            <a:pPr marL="285750" indent="-285750">
              <a:buFontTx/>
              <a:buChar char="-"/>
            </a:pPr>
            <a:endParaRPr lang="en-GB" dirty="0"/>
          </a:p>
          <a:p>
            <a:pPr marL="285750" indent="-285750">
              <a:buFontTx/>
              <a:buChar char="-"/>
            </a:pPr>
            <a:r>
              <a:rPr lang="en-GB" dirty="0"/>
              <a:t>Endpoints (</a:t>
            </a:r>
            <a:r>
              <a:rPr lang="en-GB" dirty="0" err="1"/>
              <a:t>url</a:t>
            </a:r>
            <a:r>
              <a:rPr lang="en-GB" dirty="0"/>
              <a:t>)</a:t>
            </a:r>
          </a:p>
          <a:p>
            <a:pPr marL="285750" indent="-285750">
              <a:buFontTx/>
              <a:buChar char="-"/>
            </a:pPr>
            <a:endParaRPr lang="nl-NL" dirty="0"/>
          </a:p>
          <a:p>
            <a:pPr marL="285750" indent="-285750">
              <a:buFontTx/>
              <a:buChar char="-"/>
            </a:pPr>
            <a:r>
              <a:rPr lang="nl-NL" dirty="0"/>
              <a:t>Response codes</a:t>
            </a:r>
          </a:p>
          <a:p>
            <a:pPr marL="285750" indent="-285750">
              <a:buFontTx/>
              <a:buChar char="-"/>
            </a:pPr>
            <a:endParaRPr lang="nl-NL" dirty="0"/>
          </a:p>
          <a:p>
            <a:pPr marL="285750" indent="-285750">
              <a:buFontTx/>
              <a:buChar char="-"/>
            </a:pPr>
            <a:r>
              <a:rPr lang="nl-NL" dirty="0"/>
              <a:t>Data die je moet mee sturen</a:t>
            </a:r>
          </a:p>
          <a:p>
            <a:pPr marL="285750" indent="-285750">
              <a:buFontTx/>
              <a:buChar char="-"/>
            </a:pPr>
            <a:endParaRPr lang="nl-NL" dirty="0"/>
          </a:p>
          <a:p>
            <a:pPr marL="285750" indent="-285750">
              <a:buFontTx/>
              <a:buChar char="-"/>
            </a:pPr>
            <a:r>
              <a:rPr lang="nl-NL" dirty="0"/>
              <a:t>Data die je ontvangt</a:t>
            </a:r>
          </a:p>
        </p:txBody>
      </p:sp>
    </p:spTree>
    <p:extLst>
      <p:ext uri="{BB962C8B-B14F-4D97-AF65-F5344CB8AC3E}">
        <p14:creationId xmlns:p14="http://schemas.microsoft.com/office/powerpoint/2010/main" val="33986286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4583E0-C50D-23DD-B75E-23BF1A386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64614" y="1783959"/>
            <a:ext cx="4087306" cy="288911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Vragen?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49CC64F-7275-4E33-961B-0C5CDC4398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1" y="0"/>
            <a:ext cx="7188051" cy="6858000"/>
          </a:xfrm>
          <a:custGeom>
            <a:avLst/>
            <a:gdLst>
              <a:gd name="connsiteX0" fmla="*/ 7188051 w 7188051"/>
              <a:gd name="connsiteY0" fmla="*/ 6858000 h 6858000"/>
              <a:gd name="connsiteX1" fmla="*/ 108694 w 7188051"/>
              <a:gd name="connsiteY1" fmla="*/ 6858000 h 6858000"/>
              <a:gd name="connsiteX2" fmla="*/ 79127 w 7188051"/>
              <a:gd name="connsiteY2" fmla="*/ 6681235 h 6858000"/>
              <a:gd name="connsiteX3" fmla="*/ 0 w 7188051"/>
              <a:gd name="connsiteY3" fmla="*/ 5565888 h 6858000"/>
              <a:gd name="connsiteX4" fmla="*/ 2190696 w 7188051"/>
              <a:gd name="connsiteY4" fmla="*/ 145339 h 6858000"/>
              <a:gd name="connsiteX5" fmla="*/ 2339431 w 7188051"/>
              <a:gd name="connsiteY5" fmla="*/ 0 h 6858000"/>
              <a:gd name="connsiteX6" fmla="*/ 7188051 w 7188051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188051" h="6858000">
                <a:moveTo>
                  <a:pt x="7188051" y="6858000"/>
                </a:moveTo>
                <a:lnTo>
                  <a:pt x="108694" y="6858000"/>
                </a:lnTo>
                <a:lnTo>
                  <a:pt x="79127" y="6681235"/>
                </a:lnTo>
                <a:cubicBezTo>
                  <a:pt x="26981" y="6316967"/>
                  <a:pt x="0" y="5944579"/>
                  <a:pt x="0" y="5565888"/>
                </a:cubicBezTo>
                <a:cubicBezTo>
                  <a:pt x="0" y="3459953"/>
                  <a:pt x="834428" y="1548908"/>
                  <a:pt x="2190696" y="145339"/>
                </a:cubicBezTo>
                <a:lnTo>
                  <a:pt x="2339431" y="0"/>
                </a:lnTo>
                <a:lnTo>
                  <a:pt x="7188051" y="0"/>
                </a:lnTo>
                <a:close/>
              </a:path>
            </a:pathLst>
          </a:cu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980FC7FB-3B12-2C08-34C8-881DD4511B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2" r="-1" b="2002"/>
          <a:stretch/>
        </p:blipFill>
        <p:spPr>
          <a:xfrm>
            <a:off x="1" y="10"/>
            <a:ext cx="7028495" cy="6857990"/>
          </a:xfrm>
          <a:custGeom>
            <a:avLst/>
            <a:gdLst/>
            <a:ahLst/>
            <a:cxnLst/>
            <a:rect l="l" t="t" r="r" b="b"/>
            <a:pathLst>
              <a:path w="7028495" h="6858000">
                <a:moveTo>
                  <a:pt x="0" y="0"/>
                </a:moveTo>
                <a:lnTo>
                  <a:pt x="6915668" y="0"/>
                </a:lnTo>
                <a:lnTo>
                  <a:pt x="6952411" y="219663"/>
                </a:lnTo>
                <a:cubicBezTo>
                  <a:pt x="7002551" y="569921"/>
                  <a:pt x="7028495" y="927986"/>
                  <a:pt x="7028495" y="1292112"/>
                </a:cubicBezTo>
                <a:cubicBezTo>
                  <a:pt x="7028495" y="3343346"/>
                  <a:pt x="6205186" y="5202289"/>
                  <a:pt x="4870994" y="6556512"/>
                </a:cubicBezTo>
                <a:lnTo>
                  <a:pt x="4556185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8878211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Inhoud bullet">
  <a:themeElements>
    <a:clrScheme name="">
      <a:dk1>
        <a:srgbClr val="000000"/>
      </a:dk1>
      <a:lt1>
        <a:srgbClr val="FFFFFF"/>
      </a:lt1>
      <a:dk2>
        <a:srgbClr val="046F96"/>
      </a:dk2>
      <a:lt2>
        <a:srgbClr val="EEECE1"/>
      </a:lt2>
      <a:accent1>
        <a:srgbClr val="046F96"/>
      </a:accent1>
      <a:accent2>
        <a:srgbClr val="9ACCD4"/>
      </a:accent2>
      <a:accent3>
        <a:srgbClr val="FFFFFF"/>
      </a:accent3>
      <a:accent4>
        <a:srgbClr val="000000"/>
      </a:accent4>
      <a:accent5>
        <a:srgbClr val="AABBC9"/>
      </a:accent5>
      <a:accent6>
        <a:srgbClr val="8BB9C0"/>
      </a:accent6>
      <a:hlink>
        <a:srgbClr val="ED8FBB"/>
      </a:hlink>
      <a:folHlink>
        <a:srgbClr val="900079"/>
      </a:folHlink>
    </a:clrScheme>
    <a:fontScheme name="Inhoud bullet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Inhoud bullet 1">
        <a:dk1>
          <a:srgbClr val="000000"/>
        </a:dk1>
        <a:lt1>
          <a:srgbClr val="FFFFFF"/>
        </a:lt1>
        <a:dk2>
          <a:srgbClr val="529D26"/>
        </a:dk2>
        <a:lt2>
          <a:srgbClr val="EEECE1"/>
        </a:lt2>
        <a:accent1>
          <a:srgbClr val="529D26"/>
        </a:accent1>
        <a:accent2>
          <a:srgbClr val="24C2B0"/>
        </a:accent2>
        <a:accent3>
          <a:srgbClr val="FFFFFF"/>
        </a:accent3>
        <a:accent4>
          <a:srgbClr val="000000"/>
        </a:accent4>
        <a:accent5>
          <a:srgbClr val="B3CCAC"/>
        </a:accent5>
        <a:accent6>
          <a:srgbClr val="20B09F"/>
        </a:accent6>
        <a:hlink>
          <a:srgbClr val="0000FF"/>
        </a:hlink>
        <a:folHlink>
          <a:srgbClr val="800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houd bullet 2">
        <a:dk1>
          <a:srgbClr val="000000"/>
        </a:dk1>
        <a:lt1>
          <a:srgbClr val="FFFFFF"/>
        </a:lt1>
        <a:dk2>
          <a:srgbClr val="529D26"/>
        </a:dk2>
        <a:lt2>
          <a:srgbClr val="EEECE1"/>
        </a:lt2>
        <a:accent1>
          <a:srgbClr val="58AE8B"/>
        </a:accent1>
        <a:accent2>
          <a:srgbClr val="2494C5"/>
        </a:accent2>
        <a:accent3>
          <a:srgbClr val="FFFFFF"/>
        </a:accent3>
        <a:accent4>
          <a:srgbClr val="000000"/>
        </a:accent4>
        <a:accent5>
          <a:srgbClr val="B4D3C4"/>
        </a:accent5>
        <a:accent6>
          <a:srgbClr val="2086B2"/>
        </a:accent6>
        <a:hlink>
          <a:srgbClr val="9ACCD4"/>
        </a:hlink>
        <a:folHlink>
          <a:srgbClr val="A1008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houd bullet 3">
        <a:dk1>
          <a:srgbClr val="000000"/>
        </a:dk1>
        <a:lt1>
          <a:srgbClr val="FFFFFF"/>
        </a:lt1>
        <a:dk2>
          <a:srgbClr val="529D26"/>
        </a:dk2>
        <a:lt2>
          <a:srgbClr val="EEECE1"/>
        </a:lt2>
        <a:accent1>
          <a:srgbClr val="529D26"/>
        </a:accent1>
        <a:accent2>
          <a:srgbClr val="58AE8B"/>
        </a:accent2>
        <a:accent3>
          <a:srgbClr val="FFFFFF"/>
        </a:accent3>
        <a:accent4>
          <a:srgbClr val="000000"/>
        </a:accent4>
        <a:accent5>
          <a:srgbClr val="B3CCAC"/>
        </a:accent5>
        <a:accent6>
          <a:srgbClr val="4F9D7D"/>
        </a:accent6>
        <a:hlink>
          <a:srgbClr val="2494C5"/>
        </a:hlink>
        <a:folHlink>
          <a:srgbClr val="9ACCD4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874</TotalTime>
  <Words>177</Words>
  <Application>Microsoft Office PowerPoint</Application>
  <PresentationFormat>Breedbeeld</PresentationFormat>
  <Paragraphs>57</Paragraphs>
  <Slides>12</Slides>
  <Notes>1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2</vt:i4>
      </vt:variant>
      <vt:variant>
        <vt:lpstr>Diatitels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Light</vt:lpstr>
      <vt:lpstr>Verdana</vt:lpstr>
      <vt:lpstr>Kantoorthema</vt:lpstr>
      <vt:lpstr>Inhoud bullet</vt:lpstr>
      <vt:lpstr>  Workshops week 3   Door: Fedde van der List</vt:lpstr>
      <vt:lpstr>Vragen over vorige week?</vt:lpstr>
      <vt:lpstr>De onderwerpen</vt:lpstr>
      <vt:lpstr>Wat is een API </vt:lpstr>
      <vt:lpstr>RESTful</vt:lpstr>
      <vt:lpstr>HTTP status codes</vt:lpstr>
      <vt:lpstr>De belangrijkste statussen</vt:lpstr>
      <vt:lpstr>Testen van API’s met Postman</vt:lpstr>
      <vt:lpstr>Testen van API’s met Postman</vt:lpstr>
      <vt:lpstr>Testen van API’s met Postman</vt:lpstr>
      <vt:lpstr>Het testen van api’s</vt:lpstr>
      <vt:lpstr>Vragen?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List F van der, Fedde</dc:creator>
  <cp:lastModifiedBy>List F van der, Fedde</cp:lastModifiedBy>
  <cp:revision>19</cp:revision>
  <dcterms:created xsi:type="dcterms:W3CDTF">2023-01-02T09:12:37Z</dcterms:created>
  <dcterms:modified xsi:type="dcterms:W3CDTF">2023-02-02T12:43:02Z</dcterms:modified>
</cp:coreProperties>
</file>